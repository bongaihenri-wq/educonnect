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Quattrocento Sans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210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278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5B21B6"/>
            </a:gs>
            <a:gs pos="50000">
              <a:srgbClr val="7C3AED"/>
            </a:gs>
            <a:gs pos="100000">
              <a:srgbClr val="A78BF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4826000" cy="4826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5080000"/>
            <a:ext cx="2921000" cy="2921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508000"/>
            <a:ext cx="43180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08000"/>
            <a:ext cx="431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SANS FRAIS POUR LES </a:t>
            </a:r>
            <a:r>
              <a:rPr lang="en-US" sz="1300" kern="0" spc="150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ETABLISSEMENTS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889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6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EduConnect</a:t>
            </a:r>
            <a:endParaRPr lang="en-US" sz="5200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</a:t>
            </a:r>
            <a:r>
              <a:rPr lang="en-US" sz="2800" dirty="0" err="1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pont</a:t>
            </a: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dirty="0" err="1" smtClean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numérique</a:t>
            </a:r>
            <a:r>
              <a:rPr lang="en-US" sz="2800" dirty="0" smtClean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 </a:t>
            </a:r>
            <a:r>
              <a:rPr lang="en-US" sz="2800" dirty="0" err="1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votre</a:t>
            </a: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dirty="0" err="1" smtClean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établissement</a:t>
            </a:r>
            <a:r>
              <a:rPr lang="en-US" sz="2800" dirty="0" smtClean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les familles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62000" y="5080000"/>
            <a:ext cx="101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334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Transformez </a:t>
            </a:r>
            <a:r>
              <a:rPr lang="en-US" sz="1800" dirty="0" err="1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vos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données</a:t>
            </a:r>
            <a:r>
              <a:rPr lang="en-US" sz="1800" dirty="0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scolaires en actions </a:t>
            </a:r>
            <a:r>
              <a:rPr lang="en-US" sz="1800" dirty="0" err="1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concrêtes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Informez les parents en temps reel. </a:t>
            </a:r>
            <a:r>
              <a:rPr lang="en-US" sz="1800" dirty="0" err="1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Améliorez</a:t>
            </a:r>
            <a:r>
              <a:rPr lang="en-US" sz="1800" dirty="0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</a:t>
            </a:r>
            <a:r>
              <a:rPr lang="en-US" sz="1800" dirty="0" err="1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réussite</a:t>
            </a:r>
            <a:r>
              <a:rPr lang="en-US" sz="1800" dirty="0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 </a:t>
            </a:r>
            <a:r>
              <a:rPr lang="en-US" sz="1800" dirty="0" err="1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vos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élèves</a:t>
            </a: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67310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03200" dist="101600" dir="5400000" algn="bl" rotWithShape="0">
              <a:srgbClr val="000000">
                <a:alpha val="1254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2000" y="6731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Demandez </a:t>
            </a:r>
            <a:r>
              <a:rPr lang="en-US" sz="1600" b="1" dirty="0" err="1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</a:t>
            </a:r>
            <a:r>
              <a:rPr lang="en-US" sz="16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b="1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démonstration</a:t>
            </a:r>
            <a:endParaRPr lang="en-US" sz="1600" dirty="0"/>
          </a:p>
        </p:txBody>
      </p:sp>
      <p:pic>
        <p:nvPicPr>
          <p:cNvPr id="11" name="Image 0" descr="https://kimi-img.moonshot.cn/pub/slides/okc/wxcrrvz2akhsa/mnt/agents/upload/edu%20admin%20suit%20assiduite1.jpeg"/>
          <p:cNvPicPr>
            <a:picLocks noChangeAspect="1"/>
          </p:cNvPicPr>
          <p:nvPr/>
        </p:nvPicPr>
        <p:blipFill>
          <a:blip r:embed="rId3"/>
          <a:srcRect t="20000" b="20000"/>
          <a:stretch/>
        </p:blipFill>
        <p:spPr>
          <a:xfrm rot="180000">
            <a:off x="9906000" y="1016000"/>
            <a:ext cx="5334000" cy="7112000"/>
          </a:xfrm>
          <a:prstGeom prst="roundRect">
            <a:avLst>
              <a:gd name="adj" fmla="val 800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000000">
              <a:alpha val="8235"/>
            </a:srgbClr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</a:t>
            </a:r>
            <a:r>
              <a:rPr lang="en-US" sz="3600" dirty="0" err="1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gisement</a:t>
            </a: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inexploité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4425" y="234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171450"/>
                </a:moveTo>
                <a:cubicBezTo>
                  <a:pt x="0" y="139928"/>
                  <a:pt x="25628" y="114300"/>
                  <a:pt x="57150" y="114300"/>
                </a:cubicBezTo>
                <a:lnTo>
                  <a:pt x="114300" y="114300"/>
                </a:lnTo>
                <a:lnTo>
                  <a:pt x="228511" y="11519"/>
                </a:lnTo>
                <a:cubicBezTo>
                  <a:pt x="244852" y="-3125"/>
                  <a:pt x="269587" y="-3125"/>
                  <a:pt x="285839" y="11519"/>
                </a:cubicBezTo>
                <a:lnTo>
                  <a:pt x="400050" y="114300"/>
                </a:lnTo>
                <a:lnTo>
                  <a:pt x="457200" y="114300"/>
                </a:lnTo>
                <a:cubicBezTo>
                  <a:pt x="488722" y="114300"/>
                  <a:pt x="514350" y="139928"/>
                  <a:pt x="514350" y="171450"/>
                </a:cubicBezTo>
                <a:lnTo>
                  <a:pt x="514350" y="400050"/>
                </a:lnTo>
                <a:cubicBezTo>
                  <a:pt x="514350" y="431572"/>
                  <a:pt x="488722" y="457200"/>
                  <a:pt x="45720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171450"/>
                </a:lnTo>
                <a:close/>
                <a:moveTo>
                  <a:pt x="200025" y="335756"/>
                </a:moveTo>
                <a:lnTo>
                  <a:pt x="200025" y="414338"/>
                </a:lnTo>
                <a:lnTo>
                  <a:pt x="314325" y="414338"/>
                </a:lnTo>
                <a:lnTo>
                  <a:pt x="314325" y="335756"/>
                </a:lnTo>
                <a:cubicBezTo>
                  <a:pt x="314325" y="316022"/>
                  <a:pt x="298341" y="300038"/>
                  <a:pt x="278606" y="300038"/>
                </a:cubicBezTo>
                <a:lnTo>
                  <a:pt x="235744" y="300038"/>
                </a:lnTo>
                <a:cubicBezTo>
                  <a:pt x="216009" y="300038"/>
                  <a:pt x="200025" y="316022"/>
                  <a:pt x="200025" y="335756"/>
                </a:cubicBezTo>
                <a:close/>
                <a:moveTo>
                  <a:pt x="100013" y="342900"/>
                </a:moveTo>
                <a:cubicBezTo>
                  <a:pt x="107871" y="342900"/>
                  <a:pt x="114300" y="336471"/>
                  <a:pt x="114300" y="328613"/>
                </a:cubicBezTo>
                <a:lnTo>
                  <a:pt x="114300" y="300038"/>
                </a:lnTo>
                <a:cubicBezTo>
                  <a:pt x="114300" y="292179"/>
                  <a:pt x="107871" y="285750"/>
                  <a:pt x="100013" y="285750"/>
                </a:cubicBezTo>
                <a:lnTo>
                  <a:pt x="71438" y="285750"/>
                </a:lnTo>
                <a:cubicBezTo>
                  <a:pt x="63579" y="285750"/>
                  <a:pt x="57150" y="292179"/>
                  <a:pt x="57150" y="300038"/>
                </a:cubicBezTo>
                <a:lnTo>
                  <a:pt x="57150" y="328613"/>
                </a:lnTo>
                <a:cubicBezTo>
                  <a:pt x="57150" y="336471"/>
                  <a:pt x="63579" y="342900"/>
                  <a:pt x="71438" y="342900"/>
                </a:cubicBezTo>
                <a:lnTo>
                  <a:pt x="100013" y="342900"/>
                </a:lnTo>
                <a:close/>
                <a:moveTo>
                  <a:pt x="114300" y="214313"/>
                </a:moveTo>
                <a:lnTo>
                  <a:pt x="114300" y="185738"/>
                </a:lnTo>
                <a:cubicBezTo>
                  <a:pt x="114300" y="177879"/>
                  <a:pt x="107871" y="171450"/>
                  <a:pt x="100013" y="171450"/>
                </a:cubicBezTo>
                <a:lnTo>
                  <a:pt x="71438" y="171450"/>
                </a:lnTo>
                <a:cubicBezTo>
                  <a:pt x="63579" y="171450"/>
                  <a:pt x="57150" y="177879"/>
                  <a:pt x="57150" y="185738"/>
                </a:cubicBezTo>
                <a:lnTo>
                  <a:pt x="57150" y="214313"/>
                </a:lnTo>
                <a:cubicBezTo>
                  <a:pt x="57150" y="222171"/>
                  <a:pt x="63579" y="228600"/>
                  <a:pt x="71438" y="228600"/>
                </a:cubicBezTo>
                <a:lnTo>
                  <a:pt x="100013" y="228600"/>
                </a:lnTo>
                <a:cubicBezTo>
                  <a:pt x="107871" y="228600"/>
                  <a:pt x="114300" y="222171"/>
                  <a:pt x="114300" y="214313"/>
                </a:cubicBezTo>
                <a:close/>
                <a:moveTo>
                  <a:pt x="442913" y="342900"/>
                </a:moveTo>
                <a:cubicBezTo>
                  <a:pt x="450771" y="342900"/>
                  <a:pt x="457200" y="336471"/>
                  <a:pt x="457200" y="328613"/>
                </a:cubicBezTo>
                <a:lnTo>
                  <a:pt x="457200" y="300038"/>
                </a:lnTo>
                <a:cubicBezTo>
                  <a:pt x="457200" y="292179"/>
                  <a:pt x="450771" y="285750"/>
                  <a:pt x="442913" y="285750"/>
                </a:cubicBezTo>
                <a:lnTo>
                  <a:pt x="414338" y="285750"/>
                </a:lnTo>
                <a:cubicBezTo>
                  <a:pt x="406479" y="285750"/>
                  <a:pt x="400050" y="292179"/>
                  <a:pt x="400050" y="300038"/>
                </a:cubicBezTo>
                <a:lnTo>
                  <a:pt x="400050" y="328613"/>
                </a:lnTo>
                <a:cubicBezTo>
                  <a:pt x="400050" y="336471"/>
                  <a:pt x="406479" y="342900"/>
                  <a:pt x="414338" y="342900"/>
                </a:cubicBezTo>
                <a:lnTo>
                  <a:pt x="442913" y="342900"/>
                </a:lnTo>
                <a:close/>
                <a:moveTo>
                  <a:pt x="457200" y="214313"/>
                </a:moveTo>
                <a:lnTo>
                  <a:pt x="457200" y="185738"/>
                </a:lnTo>
                <a:cubicBezTo>
                  <a:pt x="457200" y="177879"/>
                  <a:pt x="450771" y="171450"/>
                  <a:pt x="442913" y="171450"/>
                </a:cubicBezTo>
                <a:lnTo>
                  <a:pt x="414338" y="171450"/>
                </a:lnTo>
                <a:cubicBezTo>
                  <a:pt x="406479" y="171450"/>
                  <a:pt x="400050" y="177879"/>
                  <a:pt x="400050" y="185738"/>
                </a:cubicBezTo>
                <a:lnTo>
                  <a:pt x="400050" y="214313"/>
                </a:lnTo>
                <a:cubicBezTo>
                  <a:pt x="400050" y="222171"/>
                  <a:pt x="406479" y="228600"/>
                  <a:pt x="414338" y="228600"/>
                </a:cubicBezTo>
                <a:lnTo>
                  <a:pt x="442913" y="228600"/>
                </a:lnTo>
                <a:cubicBezTo>
                  <a:pt x="450771" y="228600"/>
                  <a:pt x="457200" y="222171"/>
                  <a:pt x="457200" y="214313"/>
                </a:cubicBezTo>
                <a:close/>
                <a:moveTo>
                  <a:pt x="257175" y="228600"/>
                </a:moveTo>
                <a:cubicBezTo>
                  <a:pt x="288717" y="228600"/>
                  <a:pt x="314325" y="202992"/>
                  <a:pt x="314325" y="171450"/>
                </a:cubicBezTo>
                <a:cubicBezTo>
                  <a:pt x="314325" y="139908"/>
                  <a:pt x="288717" y="114300"/>
                  <a:pt x="257175" y="114300"/>
                </a:cubicBezTo>
                <a:cubicBezTo>
                  <a:pt x="225633" y="114300"/>
                  <a:pt x="200025" y="139908"/>
                  <a:pt x="200025" y="171450"/>
                </a:cubicBezTo>
                <a:cubicBezTo>
                  <a:pt x="200025" y="202992"/>
                  <a:pt x="225633" y="228600"/>
                  <a:pt x="257175" y="22860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3495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 sein des </a:t>
            </a:r>
            <a:r>
              <a:rPr lang="en-US" sz="2200" b="1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établissements</a:t>
            </a:r>
            <a:r>
              <a:rPr lang="en-US" sz="2200" b="1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scolaires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048000"/>
            <a:ext cx="635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Chaque jour, vos services collectent des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milliers d'informations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sur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l'assiduité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les performances des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Ces archives physiques constituent ce que nous appelons des </a:t>
            </a:r>
            <a:r>
              <a:rPr lang="en-US" sz="1800" b="1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</a:t>
            </a:r>
            <a:r>
              <a:rPr lang="en-US" sz="1800" b="1" dirty="0" err="1" smtClean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données</a:t>
            </a:r>
            <a:r>
              <a:rPr lang="en-US" sz="1800" b="1" dirty="0" smtClean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dormantes"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0800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8067" y="7680"/>
                </a:moveTo>
                <a:cubicBezTo>
                  <a:pt x="237083" y="-2500"/>
                  <a:pt x="220117" y="-2500"/>
                  <a:pt x="209223" y="7680"/>
                </a:cubicBezTo>
                <a:lnTo>
                  <a:pt x="9198" y="193417"/>
                </a:lnTo>
                <a:cubicBezTo>
                  <a:pt x="625" y="201454"/>
                  <a:pt x="-2232" y="213866"/>
                  <a:pt x="2054" y="224760"/>
                </a:cubicBezTo>
                <a:cubicBezTo>
                  <a:pt x="6340" y="235654"/>
                  <a:pt x="16788" y="242888"/>
                  <a:pt x="28575" y="242888"/>
                </a:cubicBezTo>
                <a:lnTo>
                  <a:pt x="42863" y="242888"/>
                </a:lnTo>
                <a:lnTo>
                  <a:pt x="42863" y="400050"/>
                </a:lnTo>
                <a:cubicBezTo>
                  <a:pt x="42863" y="431572"/>
                  <a:pt x="68491" y="457200"/>
                  <a:pt x="100013" y="457200"/>
                </a:cubicBezTo>
                <a:lnTo>
                  <a:pt x="357188" y="457200"/>
                </a:lnTo>
                <a:cubicBezTo>
                  <a:pt x="388709" y="457200"/>
                  <a:pt x="414338" y="431572"/>
                  <a:pt x="414338" y="400050"/>
                </a:cubicBezTo>
                <a:lnTo>
                  <a:pt x="414338" y="242888"/>
                </a:lnTo>
                <a:lnTo>
                  <a:pt x="428625" y="242888"/>
                </a:lnTo>
                <a:cubicBezTo>
                  <a:pt x="440412" y="242888"/>
                  <a:pt x="450949" y="235654"/>
                  <a:pt x="455235" y="224760"/>
                </a:cubicBezTo>
                <a:cubicBezTo>
                  <a:pt x="459522" y="213866"/>
                  <a:pt x="456664" y="201364"/>
                  <a:pt x="448092" y="193417"/>
                </a:cubicBezTo>
                <a:lnTo>
                  <a:pt x="248067" y="7680"/>
                </a:lnTo>
                <a:close/>
                <a:moveTo>
                  <a:pt x="178594" y="228600"/>
                </a:moveTo>
                <a:cubicBezTo>
                  <a:pt x="178594" y="201001"/>
                  <a:pt x="201001" y="178594"/>
                  <a:pt x="228600" y="178594"/>
                </a:cubicBezTo>
                <a:cubicBezTo>
                  <a:pt x="256199" y="178594"/>
                  <a:pt x="278606" y="201001"/>
                  <a:pt x="278606" y="228600"/>
                </a:cubicBezTo>
                <a:cubicBezTo>
                  <a:pt x="278606" y="256199"/>
                  <a:pt x="256199" y="278606"/>
                  <a:pt x="228600" y="278606"/>
                </a:cubicBezTo>
                <a:cubicBezTo>
                  <a:pt x="201001" y="278606"/>
                  <a:pt x="178594" y="256199"/>
                  <a:pt x="178594" y="228600"/>
                </a:cubicBezTo>
                <a:close/>
                <a:moveTo>
                  <a:pt x="128588" y="385763"/>
                </a:moveTo>
                <a:cubicBezTo>
                  <a:pt x="128588" y="346293"/>
                  <a:pt x="160556" y="314325"/>
                  <a:pt x="200025" y="314325"/>
                </a:cubicBezTo>
                <a:lnTo>
                  <a:pt x="257175" y="314325"/>
                </a:lnTo>
                <a:cubicBezTo>
                  <a:pt x="296644" y="314325"/>
                  <a:pt x="328613" y="346293"/>
                  <a:pt x="328613" y="385763"/>
                </a:cubicBezTo>
                <a:cubicBezTo>
                  <a:pt x="328613" y="393621"/>
                  <a:pt x="322183" y="400050"/>
                  <a:pt x="314325" y="400050"/>
                </a:cubicBezTo>
                <a:lnTo>
                  <a:pt x="142875" y="400050"/>
                </a:lnTo>
                <a:cubicBezTo>
                  <a:pt x="135017" y="400050"/>
                  <a:pt x="128588" y="393621"/>
                  <a:pt x="128588" y="38576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778000" y="53975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Dans les familles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60960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 parents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"aveugles"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pas du tout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informés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très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peu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informés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qui subissent la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scolarité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 leur enfant sans pouvoir </a:t>
            </a:r>
            <a:r>
              <a:rPr lang="en-US" sz="1800" b="1" dirty="0" err="1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agir</a:t>
            </a:r>
            <a:r>
              <a:rPr lang="en-US" sz="1800" b="1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 smtClean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à </a:t>
            </a:r>
            <a:r>
              <a:rPr lang="en-US" sz="1800" b="1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032000"/>
            <a:ext cx="7112000" cy="254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B21B6"/>
              </a:gs>
              <a:gs pos="100000">
                <a:srgbClr val="7C3AED"/>
              </a:gs>
            </a:gsLst>
            <a:lin ang="8100000" scaled="1"/>
          </a:gradFill>
          <a:ln/>
          <a:effectLst>
            <a:outerShdw blurRad="203200" dist="76200" dir="5400000" algn="bl" rotWithShape="0">
              <a:srgbClr val="5B21B6">
                <a:alpha val="2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88400" y="2349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FFFFFF">
              <a:alpha val="37647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2857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i="1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 err="1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 err="1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collectée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la valeur, mais </a:t>
            </a:r>
            <a:r>
              <a:rPr lang="en-US" sz="2000" i="1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 err="1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donnée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statique est </a:t>
            </a:r>
            <a:r>
              <a:rPr lang="en-US" sz="2000" i="1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 err="1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opportunité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perdue de dialogue.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49530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0150" y="5270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52705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constat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5969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Aujourd'hui, ces informations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servent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à </a:t>
            </a:r>
            <a:r>
              <a:rPr lang="en-US" sz="1800" i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juger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l'élève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 fin de cycle, alors qu'elles pourraient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servir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à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</a:t>
            </a:r>
            <a:r>
              <a:rPr lang="en-US" sz="1800" b="1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guider en temps reel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778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EduConnect : De la </a:t>
            </a:r>
            <a:r>
              <a:rPr lang="en-US" sz="3600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</a:t>
            </a:r>
            <a:r>
              <a:rPr lang="en-US" sz="3600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à</a:t>
            </a:r>
            <a:r>
              <a:rPr lang="en-US" sz="3600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032000"/>
            <a:ext cx="4699000" cy="6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177925" y="24765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369768" y="-10805"/>
                </a:moveTo>
                <a:cubicBezTo>
                  <a:pt x="382756" y="-1419"/>
                  <a:pt x="387558" y="15607"/>
                  <a:pt x="381665" y="30450"/>
                </a:cubicBezTo>
                <a:lnTo>
                  <a:pt x="296099" y="244475"/>
                </a:lnTo>
                <a:lnTo>
                  <a:pt x="454025" y="244475"/>
                </a:lnTo>
                <a:cubicBezTo>
                  <a:pt x="468759" y="244475"/>
                  <a:pt x="481856" y="253643"/>
                  <a:pt x="486876" y="267504"/>
                </a:cubicBezTo>
                <a:cubicBezTo>
                  <a:pt x="491897" y="281365"/>
                  <a:pt x="487640" y="296863"/>
                  <a:pt x="476399" y="306249"/>
                </a:cubicBezTo>
                <a:lnTo>
                  <a:pt x="162074" y="568186"/>
                </a:lnTo>
                <a:cubicBezTo>
                  <a:pt x="149741" y="578445"/>
                  <a:pt x="132169" y="578991"/>
                  <a:pt x="119182" y="569605"/>
                </a:cubicBezTo>
                <a:cubicBezTo>
                  <a:pt x="106194" y="560219"/>
                  <a:pt x="101392" y="543193"/>
                  <a:pt x="107285" y="528350"/>
                </a:cubicBezTo>
                <a:lnTo>
                  <a:pt x="192851" y="314325"/>
                </a:lnTo>
                <a:lnTo>
                  <a:pt x="34925" y="314325"/>
                </a:lnTo>
                <a:cubicBezTo>
                  <a:pt x="20191" y="314325"/>
                  <a:pt x="7094" y="305157"/>
                  <a:pt x="2074" y="291296"/>
                </a:cubicBezTo>
                <a:cubicBezTo>
                  <a:pt x="-2947" y="277435"/>
                  <a:pt x="1310" y="261937"/>
                  <a:pt x="12551" y="252551"/>
                </a:cubicBezTo>
                <a:lnTo>
                  <a:pt x="326876" y="-9386"/>
                </a:lnTo>
                <a:cubicBezTo>
                  <a:pt x="339209" y="-19645"/>
                  <a:pt x="356781" y="-20191"/>
                  <a:pt x="369768" y="-10805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302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Réveil</a:t>
            </a:r>
            <a:r>
              <a:rPr lang="en-US" sz="2400" b="1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 </a:t>
            </a:r>
            <a:r>
              <a:rPr lang="en-US" sz="2400" b="1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937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Nous transformons vos registres statiques en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 d'informations dynamiques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instantanées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2032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8500" y="2032000"/>
            <a:ext cx="4699000" cy="6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9500" y="2476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94025" y="3165"/>
                </a:moveTo>
                <a:cubicBezTo>
                  <a:pt x="289441" y="1091"/>
                  <a:pt x="284530" y="0"/>
                  <a:pt x="279400" y="0"/>
                </a:cubicBezTo>
                <a:cubicBezTo>
                  <a:pt x="274270" y="0"/>
                  <a:pt x="269359" y="1091"/>
                  <a:pt x="264775" y="3165"/>
                </a:cubicBezTo>
                <a:lnTo>
                  <a:pt x="59263" y="90368"/>
                </a:lnTo>
                <a:cubicBezTo>
                  <a:pt x="35252" y="100519"/>
                  <a:pt x="17353" y="124202"/>
                  <a:pt x="17463" y="152797"/>
                </a:cubicBezTo>
                <a:cubicBezTo>
                  <a:pt x="18008" y="261064"/>
                  <a:pt x="62538" y="459155"/>
                  <a:pt x="250587" y="549196"/>
                </a:cubicBezTo>
                <a:cubicBezTo>
                  <a:pt x="268813" y="557927"/>
                  <a:pt x="289987" y="557927"/>
                  <a:pt x="308213" y="549196"/>
                </a:cubicBezTo>
                <a:cubicBezTo>
                  <a:pt x="496372" y="459155"/>
                  <a:pt x="540901" y="261064"/>
                  <a:pt x="541338" y="152797"/>
                </a:cubicBezTo>
                <a:cubicBezTo>
                  <a:pt x="541447" y="124202"/>
                  <a:pt x="523548" y="100519"/>
                  <a:pt x="499537" y="90368"/>
                </a:cubicBezTo>
                <a:lnTo>
                  <a:pt x="294025" y="3165"/>
                </a:lnTo>
                <a:close/>
                <a:moveTo>
                  <a:pt x="272415" y="200273"/>
                </a:moveTo>
                <a:lnTo>
                  <a:pt x="279400" y="209550"/>
                </a:lnTo>
                <a:lnTo>
                  <a:pt x="286385" y="200273"/>
                </a:lnTo>
                <a:cubicBezTo>
                  <a:pt x="298500" y="184120"/>
                  <a:pt x="317490" y="174625"/>
                  <a:pt x="337572" y="174625"/>
                </a:cubicBezTo>
                <a:cubicBezTo>
                  <a:pt x="372934" y="174625"/>
                  <a:pt x="401637" y="203329"/>
                  <a:pt x="401637" y="238691"/>
                </a:cubicBezTo>
                <a:lnTo>
                  <a:pt x="401637" y="244475"/>
                </a:lnTo>
                <a:cubicBezTo>
                  <a:pt x="401637" y="298063"/>
                  <a:pt x="329823" y="351542"/>
                  <a:pt x="296317" y="373588"/>
                </a:cubicBezTo>
                <a:cubicBezTo>
                  <a:pt x="285948" y="380355"/>
                  <a:pt x="272852" y="380355"/>
                  <a:pt x="262592" y="373588"/>
                </a:cubicBezTo>
                <a:cubicBezTo>
                  <a:pt x="229086" y="351542"/>
                  <a:pt x="157272" y="297954"/>
                  <a:pt x="157272" y="244475"/>
                </a:cubicBezTo>
                <a:lnTo>
                  <a:pt x="157272" y="238691"/>
                </a:lnTo>
                <a:cubicBezTo>
                  <a:pt x="157272" y="203329"/>
                  <a:pt x="185976" y="174625"/>
                  <a:pt x="221337" y="174625"/>
                </a:cubicBezTo>
                <a:cubicBezTo>
                  <a:pt x="241528" y="174625"/>
                  <a:pt x="260519" y="184120"/>
                  <a:pt x="272524" y="20027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159500" y="3302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Armer les parents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3937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Donner aux familles les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arguments factuels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intervenir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quotidiennement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auprès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 l'enfant.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95000" y="2032000"/>
            <a:ext cx="4699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76000" y="2476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23984" y="209550"/>
                </a:moveTo>
                <a:lnTo>
                  <a:pt x="532606" y="209550"/>
                </a:lnTo>
                <a:cubicBezTo>
                  <a:pt x="547122" y="209550"/>
                  <a:pt x="558800" y="197872"/>
                  <a:pt x="558800" y="183356"/>
                </a:cubicBezTo>
                <a:lnTo>
                  <a:pt x="558800" y="26194"/>
                </a:lnTo>
                <a:cubicBezTo>
                  <a:pt x="558800" y="15607"/>
                  <a:pt x="552470" y="6003"/>
                  <a:pt x="542647" y="1965"/>
                </a:cubicBezTo>
                <a:cubicBezTo>
                  <a:pt x="532825" y="-2074"/>
                  <a:pt x="521583" y="218"/>
                  <a:pt x="514052" y="7640"/>
                </a:cubicBezTo>
                <a:lnTo>
                  <a:pt x="457627" y="64175"/>
                </a:lnTo>
                <a:cubicBezTo>
                  <a:pt x="409277" y="24120"/>
                  <a:pt x="347067" y="0"/>
                  <a:pt x="279400" y="0"/>
                </a:cubicBezTo>
                <a:cubicBezTo>
                  <a:pt x="138609" y="0"/>
                  <a:pt x="22156" y="104120"/>
                  <a:pt x="2838" y="239564"/>
                </a:cubicBezTo>
                <a:cubicBezTo>
                  <a:pt x="109" y="258663"/>
                  <a:pt x="13315" y="276344"/>
                  <a:pt x="32415" y="279073"/>
                </a:cubicBezTo>
                <a:cubicBezTo>
                  <a:pt x="51514" y="281801"/>
                  <a:pt x="69195" y="268486"/>
                  <a:pt x="71924" y="249495"/>
                </a:cubicBezTo>
                <a:cubicBezTo>
                  <a:pt x="86439" y="147886"/>
                  <a:pt x="173861" y="69850"/>
                  <a:pt x="279400" y="69850"/>
                </a:cubicBezTo>
                <a:cubicBezTo>
                  <a:pt x="327858" y="69850"/>
                  <a:pt x="372388" y="86221"/>
                  <a:pt x="407859" y="113834"/>
                </a:cubicBezTo>
                <a:lnTo>
                  <a:pt x="356890" y="164802"/>
                </a:lnTo>
                <a:cubicBezTo>
                  <a:pt x="349359" y="172333"/>
                  <a:pt x="347176" y="183575"/>
                  <a:pt x="351215" y="193397"/>
                </a:cubicBezTo>
                <a:cubicBezTo>
                  <a:pt x="355253" y="203220"/>
                  <a:pt x="364857" y="209550"/>
                  <a:pt x="375444" y="209550"/>
                </a:cubicBezTo>
                <a:lnTo>
                  <a:pt x="523984" y="209550"/>
                </a:lnTo>
                <a:close/>
                <a:moveTo>
                  <a:pt x="556071" y="319236"/>
                </a:moveTo>
                <a:cubicBezTo>
                  <a:pt x="558800" y="300137"/>
                  <a:pt x="545485" y="282456"/>
                  <a:pt x="526494" y="279727"/>
                </a:cubicBezTo>
                <a:cubicBezTo>
                  <a:pt x="507504" y="276999"/>
                  <a:pt x="489714" y="290314"/>
                  <a:pt x="486985" y="309305"/>
                </a:cubicBezTo>
                <a:cubicBezTo>
                  <a:pt x="472470" y="410805"/>
                  <a:pt x="385048" y="488841"/>
                  <a:pt x="279509" y="488841"/>
                </a:cubicBezTo>
                <a:cubicBezTo>
                  <a:pt x="231051" y="488841"/>
                  <a:pt x="186521" y="472470"/>
                  <a:pt x="151051" y="444857"/>
                </a:cubicBezTo>
                <a:lnTo>
                  <a:pt x="201910" y="393998"/>
                </a:lnTo>
                <a:cubicBezTo>
                  <a:pt x="209441" y="386467"/>
                  <a:pt x="211624" y="375225"/>
                  <a:pt x="207585" y="365403"/>
                </a:cubicBezTo>
                <a:cubicBezTo>
                  <a:pt x="203547" y="355580"/>
                  <a:pt x="193943" y="349250"/>
                  <a:pt x="183356" y="349250"/>
                </a:cubicBezTo>
                <a:lnTo>
                  <a:pt x="26194" y="349250"/>
                </a:lnTo>
                <a:cubicBezTo>
                  <a:pt x="11678" y="349250"/>
                  <a:pt x="0" y="360928"/>
                  <a:pt x="0" y="375444"/>
                </a:cubicBezTo>
                <a:lnTo>
                  <a:pt x="0" y="532606"/>
                </a:lnTo>
                <a:cubicBezTo>
                  <a:pt x="0" y="543193"/>
                  <a:pt x="6330" y="552797"/>
                  <a:pt x="16153" y="556835"/>
                </a:cubicBezTo>
                <a:cubicBezTo>
                  <a:pt x="25975" y="560874"/>
                  <a:pt x="37217" y="558582"/>
                  <a:pt x="44748" y="551160"/>
                </a:cubicBezTo>
                <a:lnTo>
                  <a:pt x="101283" y="494625"/>
                </a:lnTo>
                <a:cubicBezTo>
                  <a:pt x="149523" y="534680"/>
                  <a:pt x="211733" y="558800"/>
                  <a:pt x="279400" y="558800"/>
                </a:cubicBezTo>
                <a:cubicBezTo>
                  <a:pt x="420191" y="558800"/>
                  <a:pt x="536644" y="454680"/>
                  <a:pt x="555962" y="31923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3302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Cercle vertueux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3937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Une communication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fluide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réduit</a:t>
            </a:r>
            <a:r>
              <a:rPr lang="en-US" sz="1800" b="1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charge administrative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améliore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discipline globale.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6096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5B21B6"/>
          </a:solidFill>
          <a:ln/>
          <a:effectLst>
            <a:outerShdw blurRad="152400" dist="50800" dir="5400000" algn="bl" rotWithShape="0">
              <a:srgbClr val="5B21B6">
                <a:alpha val="1882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70000" y="6223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"L'appel de classe et les notes </a:t>
            </a:r>
            <a:r>
              <a:rPr lang="en-US" sz="2000" i="1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servent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à </a:t>
            </a:r>
            <a:r>
              <a:rPr lang="en-US" sz="2000" i="1" dirty="0" err="1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l‘établissement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 </a:t>
            </a:r>
            <a:r>
              <a:rPr lang="en-US" sz="2000" i="1" dirty="0" err="1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</a:t>
            </a:r>
            <a:r>
              <a:rPr lang="en-US" sz="2000" i="1" dirty="0" err="1" smtClean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valuer</a:t>
            </a:r>
            <a:r>
              <a:rPr lang="en-US" sz="2000" i="1" dirty="0" smtClean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conduite, mais ne servent pas encore aux parents pour la </a:t>
            </a:r>
            <a:r>
              <a:rPr lang="en-US" sz="2000" i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rectifier</a:t>
            </a: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778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L'APPLICATION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Trois interfaces, un </a:t>
            </a:r>
            <a:r>
              <a:rPr lang="en-US" sz="3600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même</a:t>
            </a:r>
            <a:r>
              <a:rPr lang="en-US" sz="3600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Chaque acteur de la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communauté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 err="1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ducative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dispose de son </a:t>
            </a:r>
            <a:r>
              <a:rPr lang="en-US" sz="2200" dirty="0" err="1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espace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dédié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4699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413000"/>
            <a:ext cx="4699000" cy="76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B21B6"/>
              </a:gs>
              <a:gs pos="100000">
                <a:srgbClr val="7C3AED"/>
              </a:gs>
            </a:gsLst>
            <a:lin ang="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762000" y="2413000"/>
            <a:ext cx="469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Administration</a:t>
            </a:r>
            <a:endParaRPr lang="en-US" sz="1600" dirty="0"/>
          </a:p>
        </p:txBody>
      </p:sp>
      <p:pic>
        <p:nvPicPr>
          <p:cNvPr id="9" name="Image 0" descr="https://kimi-img.moonshot.cn/pub/slides/okc/wxcrrvz2akhsa/mnt/agents/output/educonnect-pitch-etablissements/images/admin_assiduite.jpg"/>
          <p:cNvPicPr>
            <a:picLocks noChangeAspect="1"/>
          </p:cNvPicPr>
          <p:nvPr/>
        </p:nvPicPr>
        <p:blipFill>
          <a:blip r:embed="rId3"/>
          <a:srcRect t="30909" b="30909"/>
          <a:stretch/>
        </p:blipFill>
        <p:spPr>
          <a:xfrm>
            <a:off x="1016000" y="3429000"/>
            <a:ext cx="4191000" cy="355600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1016000" y="717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Tableau de bord complet, statistiques globales, pilotage de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l‘établissement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778500" y="2413000"/>
            <a:ext cx="4699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78500" y="2413000"/>
            <a:ext cx="4699000" cy="76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59669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13" name="Text 10"/>
          <p:cNvSpPr/>
          <p:nvPr/>
        </p:nvSpPr>
        <p:spPr>
          <a:xfrm>
            <a:off x="5778500" y="2413000"/>
            <a:ext cx="469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🧑‍🏫</a:t>
            </a:r>
            <a:r>
              <a:rPr lang="en-US" sz="2000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Enseignant</a:t>
            </a:r>
            <a:endParaRPr lang="en-US" sz="1600" dirty="0"/>
          </a:p>
        </p:txBody>
      </p:sp>
      <p:pic>
        <p:nvPicPr>
          <p:cNvPr id="14" name="Image 1" descr="https://kimi-img.moonshot.cn/pub/slides/okc/wxcrrvz2akhsa/mnt/agents/output/educonnect-pitch-etablissements/images/ens_rapport.jpg"/>
          <p:cNvPicPr>
            <a:picLocks noChangeAspect="1"/>
          </p:cNvPicPr>
          <p:nvPr/>
        </p:nvPicPr>
        <p:blipFill>
          <a:blip r:embed="rId4"/>
          <a:srcRect t="30909" b="30909"/>
          <a:stretch/>
        </p:blipFill>
        <p:spPr>
          <a:xfrm>
            <a:off x="6032500" y="3429000"/>
            <a:ext cx="4191000" cy="3556000"/>
          </a:xfrm>
          <a:prstGeom prst="roundRect">
            <a:avLst>
              <a:gd name="adj" fmla="val 6000"/>
            </a:avLst>
          </a:prstGeom>
        </p:spPr>
      </p:pic>
      <p:sp>
        <p:nvSpPr>
          <p:cNvPr id="15" name="Text 11"/>
          <p:cNvSpPr/>
          <p:nvPr/>
        </p:nvSpPr>
        <p:spPr>
          <a:xfrm>
            <a:off x="6032500" y="717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Saisie rapide, appel, notes, communication avec les parents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0795000" y="2413000"/>
            <a:ext cx="4699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795000" y="2413000"/>
            <a:ext cx="4699000" cy="76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D97706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18" name="Text 14"/>
          <p:cNvSpPr/>
          <p:nvPr/>
        </p:nvSpPr>
        <p:spPr>
          <a:xfrm>
            <a:off x="10795000" y="2413000"/>
            <a:ext cx="469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👨‍👧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Parent</a:t>
            </a:r>
            <a:endParaRPr lang="en-US" sz="1600" dirty="0"/>
          </a:p>
        </p:txBody>
      </p:sp>
      <p:pic>
        <p:nvPicPr>
          <p:cNvPr id="19" name="Image 2" descr="https://kimi-img.moonshot.cn/pub/slides/okc/wxcrrvz2akhsa/mnt/agents/output/educonnect-pitch-etablissements/images/parent_alerte_recue.jpg"/>
          <p:cNvPicPr>
            <a:picLocks noChangeAspect="1"/>
          </p:cNvPicPr>
          <p:nvPr/>
        </p:nvPicPr>
        <p:blipFill>
          <a:blip r:embed="rId5"/>
          <a:srcRect t="30909" b="30909"/>
          <a:stretch/>
        </p:blipFill>
        <p:spPr>
          <a:xfrm>
            <a:off x="11049000" y="3429000"/>
            <a:ext cx="4191000" cy="355600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Text 15"/>
          <p:cNvSpPr/>
          <p:nvPr/>
        </p:nvSpPr>
        <p:spPr>
          <a:xfrm>
            <a:off x="11049000" y="717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Notifications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instantanées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suivi en temps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réel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messagerie directe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 Administration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d'ensemble de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l'établissement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 un clin d'oeil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7275" y="254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377825" y="311150"/>
                </a:lnTo>
                <a:cubicBezTo>
                  <a:pt x="390118" y="311150"/>
                  <a:pt x="400050" y="301218"/>
                  <a:pt x="400050" y="288925"/>
                </a:cubicBezTo>
                <a:cubicBezTo>
                  <a:pt x="400050" y="276632"/>
                  <a:pt x="390118" y="266700"/>
                  <a:pt x="377825" y="266700"/>
                </a:cubicBezTo>
                <a:lnTo>
                  <a:pt x="377825" y="88900"/>
                </a:lnTo>
                <a:cubicBezTo>
                  <a:pt x="377825" y="64383"/>
                  <a:pt x="357892" y="44450"/>
                  <a:pt x="333375" y="44450"/>
                </a:cubicBezTo>
                <a:lnTo>
                  <a:pt x="66675" y="44450"/>
                </a:lnTo>
                <a:close/>
                <a:moveTo>
                  <a:pt x="333375" y="266700"/>
                </a:moveTo>
                <a:lnTo>
                  <a:pt x="288925" y="266700"/>
                </a:lnTo>
                <a:lnTo>
                  <a:pt x="288925" y="244475"/>
                </a:lnTo>
                <a:cubicBezTo>
                  <a:pt x="288925" y="232182"/>
                  <a:pt x="278993" y="222250"/>
                  <a:pt x="266700" y="222250"/>
                </a:cubicBezTo>
                <a:lnTo>
                  <a:pt x="200025" y="222250"/>
                </a:lnTo>
                <a:cubicBezTo>
                  <a:pt x="187732" y="222250"/>
                  <a:pt x="177800" y="232182"/>
                  <a:pt x="177800" y="244475"/>
                </a:cubicBezTo>
                <a:lnTo>
                  <a:pt x="177800" y="266700"/>
                </a:lnTo>
                <a:lnTo>
                  <a:pt x="66675" y="266700"/>
                </a:lnTo>
                <a:lnTo>
                  <a:pt x="66675" y="88900"/>
                </a:lnTo>
                <a:lnTo>
                  <a:pt x="333375" y="88900"/>
                </a:lnTo>
                <a:lnTo>
                  <a:pt x="333375" y="26670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476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048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5000" y="2286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4725" y="254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67590" y="-9029"/>
                </a:moveTo>
                <a:cubicBezTo>
                  <a:pt x="159673" y="-10626"/>
                  <a:pt x="151547" y="-10626"/>
                  <a:pt x="143629" y="-9029"/>
                </a:cubicBezTo>
                <a:lnTo>
                  <a:pt x="13404" y="17016"/>
                </a:lnTo>
                <a:cubicBezTo>
                  <a:pt x="5626" y="18544"/>
                  <a:pt x="0" y="25420"/>
                  <a:pt x="0" y="33337"/>
                </a:cubicBezTo>
                <a:cubicBezTo>
                  <a:pt x="0" y="40491"/>
                  <a:pt x="4514" y="46742"/>
                  <a:pt x="11112" y="49034"/>
                </a:cubicBezTo>
                <a:lnTo>
                  <a:pt x="11112" y="100013"/>
                </a:lnTo>
                <a:lnTo>
                  <a:pt x="208" y="154603"/>
                </a:lnTo>
                <a:cubicBezTo>
                  <a:pt x="69" y="155228"/>
                  <a:pt x="0" y="155922"/>
                  <a:pt x="0" y="156617"/>
                </a:cubicBezTo>
                <a:cubicBezTo>
                  <a:pt x="0" y="162173"/>
                  <a:pt x="4514" y="166757"/>
                  <a:pt x="10140" y="166757"/>
                </a:cubicBezTo>
                <a:lnTo>
                  <a:pt x="34379" y="166757"/>
                </a:lnTo>
                <a:cubicBezTo>
                  <a:pt x="39936" y="166757"/>
                  <a:pt x="44519" y="162243"/>
                  <a:pt x="44519" y="156617"/>
                </a:cubicBezTo>
                <a:cubicBezTo>
                  <a:pt x="44519" y="155922"/>
                  <a:pt x="44450" y="155297"/>
                  <a:pt x="44311" y="154603"/>
                </a:cubicBezTo>
                <a:lnTo>
                  <a:pt x="33337" y="100013"/>
                </a:lnTo>
                <a:lnTo>
                  <a:pt x="33337" y="53687"/>
                </a:lnTo>
                <a:lnTo>
                  <a:pt x="66675" y="60355"/>
                </a:lnTo>
                <a:lnTo>
                  <a:pt x="66675" y="100013"/>
                </a:lnTo>
                <a:cubicBezTo>
                  <a:pt x="66675" y="149116"/>
                  <a:pt x="106472" y="188913"/>
                  <a:pt x="155575" y="188913"/>
                </a:cubicBezTo>
                <a:cubicBezTo>
                  <a:pt x="204678" y="188913"/>
                  <a:pt x="244475" y="149116"/>
                  <a:pt x="244475" y="100013"/>
                </a:cubicBezTo>
                <a:lnTo>
                  <a:pt x="244475" y="60355"/>
                </a:lnTo>
                <a:lnTo>
                  <a:pt x="297746" y="49728"/>
                </a:lnTo>
                <a:cubicBezTo>
                  <a:pt x="305524" y="48131"/>
                  <a:pt x="311150" y="41255"/>
                  <a:pt x="311150" y="33337"/>
                </a:cubicBezTo>
                <a:cubicBezTo>
                  <a:pt x="311150" y="25420"/>
                  <a:pt x="305524" y="18544"/>
                  <a:pt x="297746" y="17016"/>
                </a:cubicBezTo>
                <a:lnTo>
                  <a:pt x="167590" y="-9029"/>
                </a:lnTo>
                <a:close/>
                <a:moveTo>
                  <a:pt x="155575" y="155575"/>
                </a:moveTo>
                <a:cubicBezTo>
                  <a:pt x="124877" y="155575"/>
                  <a:pt x="100013" y="130711"/>
                  <a:pt x="100013" y="100013"/>
                </a:cubicBezTo>
                <a:lnTo>
                  <a:pt x="211138" y="100013"/>
                </a:lnTo>
                <a:cubicBezTo>
                  <a:pt x="211138" y="130711"/>
                  <a:pt x="186273" y="155575"/>
                  <a:pt x="155575" y="155575"/>
                </a:cubicBezTo>
                <a:close/>
                <a:moveTo>
                  <a:pt x="83413" y="222319"/>
                </a:moveTo>
                <a:cubicBezTo>
                  <a:pt x="40769" y="241905"/>
                  <a:pt x="11112" y="284966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138906" y="355600"/>
                </a:lnTo>
                <a:lnTo>
                  <a:pt x="138906" y="254198"/>
                </a:lnTo>
                <a:lnTo>
                  <a:pt x="99040" y="224334"/>
                </a:lnTo>
                <a:cubicBezTo>
                  <a:pt x="94526" y="220930"/>
                  <a:pt x="88483" y="220028"/>
                  <a:pt x="83344" y="222389"/>
                </a:cubicBezTo>
                <a:close/>
                <a:moveTo>
                  <a:pt x="172244" y="355600"/>
                </a:move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84966"/>
                  <a:pt x="270381" y="241905"/>
                  <a:pt x="227737" y="222389"/>
                </a:cubicBezTo>
                <a:cubicBezTo>
                  <a:pt x="222597" y="220028"/>
                  <a:pt x="216555" y="220930"/>
                  <a:pt x="212040" y="224334"/>
                </a:cubicBezTo>
                <a:lnTo>
                  <a:pt x="172174" y="254198"/>
                </a:lnTo>
                <a:lnTo>
                  <a:pt x="172174" y="35560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270500" y="2476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3048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810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35050" y="4064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88900" y="66675"/>
                </a:moveTo>
                <a:cubicBezTo>
                  <a:pt x="88900" y="42158"/>
                  <a:pt x="108833" y="22225"/>
                  <a:pt x="133350" y="22225"/>
                </a:cubicBezTo>
                <a:lnTo>
                  <a:pt x="377825" y="22225"/>
                </a:lnTo>
                <a:cubicBezTo>
                  <a:pt x="402342" y="22225"/>
                  <a:pt x="422275" y="42158"/>
                  <a:pt x="422275" y="66675"/>
                </a:cubicBezTo>
                <a:lnTo>
                  <a:pt x="422275" y="233363"/>
                </a:lnTo>
                <a:lnTo>
                  <a:pt x="355600" y="233363"/>
                </a:lnTo>
                <a:lnTo>
                  <a:pt x="355600" y="222250"/>
                </a:lnTo>
                <a:cubicBezTo>
                  <a:pt x="355600" y="209957"/>
                  <a:pt x="345668" y="200025"/>
                  <a:pt x="333375" y="200025"/>
                </a:cubicBezTo>
                <a:lnTo>
                  <a:pt x="288925" y="200025"/>
                </a:lnTo>
                <a:cubicBezTo>
                  <a:pt x="276632" y="200025"/>
                  <a:pt x="266700" y="209957"/>
                  <a:pt x="266700" y="222250"/>
                </a:cubicBezTo>
                <a:lnTo>
                  <a:pt x="266700" y="233363"/>
                </a:lnTo>
                <a:lnTo>
                  <a:pt x="177036" y="233363"/>
                </a:lnTo>
                <a:cubicBezTo>
                  <a:pt x="184606" y="220305"/>
                  <a:pt x="188913" y="205095"/>
                  <a:pt x="188913" y="188913"/>
                </a:cubicBezTo>
                <a:cubicBezTo>
                  <a:pt x="188913" y="139809"/>
                  <a:pt x="149116" y="100013"/>
                  <a:pt x="100013" y="100013"/>
                </a:cubicBezTo>
                <a:cubicBezTo>
                  <a:pt x="96262" y="100013"/>
                  <a:pt x="92512" y="100221"/>
                  <a:pt x="88900" y="100707"/>
                </a:cubicBezTo>
                <a:lnTo>
                  <a:pt x="88900" y="66675"/>
                </a:lnTo>
                <a:close/>
                <a:moveTo>
                  <a:pt x="231279" y="311150"/>
                </a:moveTo>
                <a:cubicBezTo>
                  <a:pt x="227737" y="294342"/>
                  <a:pt x="219958" y="279132"/>
                  <a:pt x="208984" y="266700"/>
                </a:cubicBezTo>
                <a:lnTo>
                  <a:pt x="422275" y="266700"/>
                </a:lnTo>
                <a:cubicBezTo>
                  <a:pt x="422275" y="291217"/>
                  <a:pt x="402342" y="311150"/>
                  <a:pt x="377825" y="311150"/>
                </a:cubicBezTo>
                <a:lnTo>
                  <a:pt x="231279" y="311150"/>
                </a:lnTo>
                <a:close/>
                <a:moveTo>
                  <a:pt x="44450" y="188913"/>
                </a:moveTo>
                <a:cubicBezTo>
                  <a:pt x="44450" y="158247"/>
                  <a:pt x="69347" y="133350"/>
                  <a:pt x="100012" y="133350"/>
                </a:cubicBezTo>
                <a:cubicBezTo>
                  <a:pt x="130678" y="133350"/>
                  <a:pt x="155575" y="158247"/>
                  <a:pt x="155575" y="188913"/>
                </a:cubicBezTo>
                <a:cubicBezTo>
                  <a:pt x="155575" y="219578"/>
                  <a:pt x="130678" y="244475"/>
                  <a:pt x="100013" y="244475"/>
                </a:cubicBezTo>
                <a:cubicBezTo>
                  <a:pt x="69347" y="244475"/>
                  <a:pt x="44450" y="219578"/>
                  <a:pt x="44450" y="188913"/>
                </a:cubicBezTo>
                <a:close/>
                <a:moveTo>
                  <a:pt x="0" y="333375"/>
                </a:moveTo>
                <a:cubicBezTo>
                  <a:pt x="0" y="296565"/>
                  <a:pt x="29865" y="266700"/>
                  <a:pt x="66675" y="266700"/>
                </a:cubicBezTo>
                <a:lnTo>
                  <a:pt x="133350" y="266700"/>
                </a:lnTo>
                <a:cubicBezTo>
                  <a:pt x="170160" y="266700"/>
                  <a:pt x="200025" y="296565"/>
                  <a:pt x="200025" y="333375"/>
                </a:cubicBezTo>
                <a:cubicBezTo>
                  <a:pt x="200025" y="345668"/>
                  <a:pt x="190093" y="355600"/>
                  <a:pt x="177800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4000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457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Enseignants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45000" y="3810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02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9957" y="-8751"/>
                </a:moveTo>
                <a:cubicBezTo>
                  <a:pt x="203706" y="-11876"/>
                  <a:pt x="196344" y="-11876"/>
                  <a:pt x="190093" y="-8751"/>
                </a:cubicBezTo>
                <a:lnTo>
                  <a:pt x="12293" y="80149"/>
                </a:lnTo>
                <a:cubicBezTo>
                  <a:pt x="1320" y="85636"/>
                  <a:pt x="-3125" y="98971"/>
                  <a:pt x="2361" y="109944"/>
                </a:cubicBezTo>
                <a:cubicBezTo>
                  <a:pt x="7848" y="120918"/>
                  <a:pt x="21183" y="125363"/>
                  <a:pt x="32157" y="119876"/>
                </a:cubicBezTo>
                <a:lnTo>
                  <a:pt x="200025" y="35977"/>
                </a:lnTo>
                <a:lnTo>
                  <a:pt x="367893" y="119876"/>
                </a:lnTo>
                <a:cubicBezTo>
                  <a:pt x="378867" y="125363"/>
                  <a:pt x="392202" y="120918"/>
                  <a:pt x="397689" y="109944"/>
                </a:cubicBezTo>
                <a:cubicBezTo>
                  <a:pt x="403175" y="98971"/>
                  <a:pt x="398730" y="85636"/>
                  <a:pt x="387757" y="80149"/>
                </a:cubicBezTo>
                <a:lnTo>
                  <a:pt x="209957" y="-8751"/>
                </a:lnTo>
                <a:close/>
                <a:moveTo>
                  <a:pt x="200025" y="188913"/>
                </a:moveTo>
                <a:cubicBezTo>
                  <a:pt x="221491" y="188913"/>
                  <a:pt x="238919" y="171485"/>
                  <a:pt x="238919" y="150019"/>
                </a:cubicBezTo>
                <a:cubicBezTo>
                  <a:pt x="238919" y="128553"/>
                  <a:pt x="221491" y="111125"/>
                  <a:pt x="200025" y="111125"/>
                </a:cubicBezTo>
                <a:cubicBezTo>
                  <a:pt x="178559" y="111125"/>
                  <a:pt x="161131" y="128553"/>
                  <a:pt x="161131" y="150019"/>
                </a:cubicBezTo>
                <a:cubicBezTo>
                  <a:pt x="161131" y="171485"/>
                  <a:pt x="178559" y="188913"/>
                  <a:pt x="200025" y="188913"/>
                </a:cubicBezTo>
                <a:close/>
                <a:moveTo>
                  <a:pt x="200025" y="222250"/>
                </a:moveTo>
                <a:cubicBezTo>
                  <a:pt x="163215" y="222250"/>
                  <a:pt x="133350" y="252115"/>
                  <a:pt x="133350" y="288925"/>
                </a:cubicBezTo>
                <a:lnTo>
                  <a:pt x="133350" y="311150"/>
                </a:lnTo>
                <a:cubicBezTo>
                  <a:pt x="133350" y="323443"/>
                  <a:pt x="143282" y="333375"/>
                  <a:pt x="155575" y="333375"/>
                </a:cubicBezTo>
                <a:lnTo>
                  <a:pt x="244475" y="333375"/>
                </a:lnTo>
                <a:cubicBezTo>
                  <a:pt x="256768" y="333375"/>
                  <a:pt x="266700" y="323443"/>
                  <a:pt x="266700" y="311150"/>
                </a:cubicBezTo>
                <a:lnTo>
                  <a:pt x="266700" y="288925"/>
                </a:lnTo>
                <a:cubicBezTo>
                  <a:pt x="266700" y="252115"/>
                  <a:pt x="236835" y="222250"/>
                  <a:pt x="200025" y="222250"/>
                </a:cubicBezTo>
                <a:close/>
                <a:moveTo>
                  <a:pt x="111125" y="177800"/>
                </a:moveTo>
                <a:cubicBezTo>
                  <a:pt x="111125" y="159401"/>
                  <a:pt x="96187" y="144463"/>
                  <a:pt x="77788" y="144463"/>
                </a:cubicBezTo>
                <a:cubicBezTo>
                  <a:pt x="59388" y="144463"/>
                  <a:pt x="44450" y="159401"/>
                  <a:pt x="44450" y="177800"/>
                </a:cubicBezTo>
                <a:cubicBezTo>
                  <a:pt x="44450" y="196199"/>
                  <a:pt x="59388" y="211138"/>
                  <a:pt x="77788" y="211138"/>
                </a:cubicBezTo>
                <a:cubicBezTo>
                  <a:pt x="96187" y="211138"/>
                  <a:pt x="111125" y="196199"/>
                  <a:pt x="111125" y="177800"/>
                </a:cubicBezTo>
                <a:close/>
                <a:moveTo>
                  <a:pt x="355600" y="177800"/>
                </a:moveTo>
                <a:cubicBezTo>
                  <a:pt x="355600" y="159401"/>
                  <a:pt x="340662" y="144463"/>
                  <a:pt x="322263" y="144463"/>
                </a:cubicBezTo>
                <a:cubicBezTo>
                  <a:pt x="303863" y="144463"/>
                  <a:pt x="288925" y="159401"/>
                  <a:pt x="288925" y="177800"/>
                </a:cubicBezTo>
                <a:cubicBezTo>
                  <a:pt x="288925" y="196199"/>
                  <a:pt x="303863" y="211138"/>
                  <a:pt x="322263" y="211138"/>
                </a:cubicBezTo>
                <a:cubicBezTo>
                  <a:pt x="340662" y="211138"/>
                  <a:pt x="355600" y="196199"/>
                  <a:pt x="355600" y="177800"/>
                </a:cubicBezTo>
                <a:close/>
                <a:moveTo>
                  <a:pt x="77788" y="233363"/>
                </a:moveTo>
                <a:cubicBezTo>
                  <a:pt x="47089" y="233363"/>
                  <a:pt x="22225" y="258227"/>
                  <a:pt x="22225" y="288925"/>
                </a:cubicBezTo>
                <a:lnTo>
                  <a:pt x="22225" y="311914"/>
                </a:lnTo>
                <a:cubicBezTo>
                  <a:pt x="22225" y="323721"/>
                  <a:pt x="31810" y="333375"/>
                  <a:pt x="43686" y="333375"/>
                </a:cubicBezTo>
                <a:lnTo>
                  <a:pt x="104666" y="333375"/>
                </a:lnTo>
                <a:cubicBezTo>
                  <a:pt x="101679" y="326569"/>
                  <a:pt x="100013" y="319068"/>
                  <a:pt x="100013" y="311150"/>
                </a:cubicBezTo>
                <a:lnTo>
                  <a:pt x="100013" y="277813"/>
                </a:lnTo>
                <a:cubicBezTo>
                  <a:pt x="100013" y="265033"/>
                  <a:pt x="102443" y="252809"/>
                  <a:pt x="106819" y="241558"/>
                </a:cubicBezTo>
                <a:cubicBezTo>
                  <a:pt x="98346" y="236349"/>
                  <a:pt x="88414" y="233363"/>
                  <a:pt x="77788" y="233363"/>
                </a:cubicBezTo>
                <a:close/>
                <a:moveTo>
                  <a:pt x="295454" y="333375"/>
                </a:moveTo>
                <a:lnTo>
                  <a:pt x="356433" y="333375"/>
                </a:lnTo>
                <a:cubicBezTo>
                  <a:pt x="368240" y="333375"/>
                  <a:pt x="377894" y="323790"/>
                  <a:pt x="377894" y="311914"/>
                </a:cubicBezTo>
                <a:lnTo>
                  <a:pt x="377894" y="288925"/>
                </a:lnTo>
                <a:cubicBezTo>
                  <a:pt x="377894" y="258227"/>
                  <a:pt x="353030" y="233363"/>
                  <a:pt x="322332" y="233363"/>
                </a:cubicBezTo>
                <a:cubicBezTo>
                  <a:pt x="311706" y="233363"/>
                  <a:pt x="301774" y="236349"/>
                  <a:pt x="293301" y="241558"/>
                </a:cubicBezTo>
                <a:cubicBezTo>
                  <a:pt x="297676" y="252809"/>
                  <a:pt x="300107" y="265033"/>
                  <a:pt x="300107" y="277813"/>
                </a:cubicBezTo>
                <a:lnTo>
                  <a:pt x="300107" y="311150"/>
                </a:lnTo>
                <a:cubicBezTo>
                  <a:pt x="300107" y="319068"/>
                  <a:pt x="298440" y="326569"/>
                  <a:pt x="295454" y="333375"/>
                </a:cubicBezTo>
                <a:close/>
              </a:path>
            </a:pathLst>
          </a:cu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5270500" y="4000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A78B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2500" y="4572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Parents </a:t>
            </a:r>
            <a:r>
              <a:rPr lang="en-US" sz="14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connectés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5461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de pilotage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032500"/>
            <a:ext cx="2222500" cy="6350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6032500"/>
            <a:ext cx="2222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B21B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 &amp; </a:t>
            </a:r>
            <a:r>
              <a:rPr lang="en-US" sz="1400" dirty="0" err="1" smtClean="0">
                <a:solidFill>
                  <a:srgbClr val="5B21B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élèves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75000" y="6032500"/>
            <a:ext cx="2222500" cy="6350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5000" y="6032500"/>
            <a:ext cx="2222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B21B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Enseignants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858000"/>
            <a:ext cx="2222500" cy="6350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6858000"/>
            <a:ext cx="2222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B21B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Emploi du temps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75000" y="6858000"/>
            <a:ext cx="2222500" cy="6350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5000" y="6858000"/>
            <a:ext cx="2222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B21B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Devoirs &amp; Notes</a:t>
            </a:r>
            <a:endParaRPr lang="en-US" sz="1600" dirty="0"/>
          </a:p>
        </p:txBody>
      </p:sp>
      <p:pic>
        <p:nvPicPr>
          <p:cNvPr id="31" name="Image 0" descr="https://kimi-img.moonshot.cn/pub/slides/okc/wxcrrvz2akhsa/mnt/agents/output/educonnect-pitch-etablissements/images/admin_assiduite.jpg"/>
          <p:cNvPicPr>
            <a:picLocks noChangeAspect="1"/>
          </p:cNvPicPr>
          <p:nvPr/>
        </p:nvPicPr>
        <p:blipFill>
          <a:blip r:embed="rId3"/>
          <a:srcRect t="9821" b="9821"/>
          <a:stretch/>
        </p:blipFill>
        <p:spPr>
          <a:xfrm>
            <a:off x="8382000" y="2222500"/>
            <a:ext cx="3556000" cy="6350000"/>
          </a:xfrm>
          <a:prstGeom prst="roundRect">
            <a:avLst>
              <a:gd name="adj" fmla="val 6000"/>
            </a:avLst>
          </a:prstGeom>
        </p:spPr>
      </p:pic>
      <p:pic>
        <p:nvPicPr>
          <p:cNvPr id="32" name="Image 1" descr="https://kimi-img.moonshot.cn/pub/slides/okc/wxcrrvz2akhsa/mnt/agents/output/educonnect-pitch-etablissements/images/admin_enseignants.jpg"/>
          <p:cNvPicPr>
            <a:picLocks noChangeAspect="1"/>
          </p:cNvPicPr>
          <p:nvPr/>
        </p:nvPicPr>
        <p:blipFill>
          <a:blip r:embed="rId4"/>
          <a:srcRect t="6731" b="6731"/>
          <a:stretch/>
        </p:blipFill>
        <p:spPr>
          <a:xfrm>
            <a:off x="12192000" y="2222500"/>
            <a:ext cx="3302000" cy="6350000"/>
          </a:xfrm>
          <a:prstGeom prst="roundRect">
            <a:avLst>
              <a:gd name="adj" fmla="val 6000"/>
            </a:avLst>
          </a:prstGeom>
        </p:spPr>
      </p:pic>
      <p:sp>
        <p:nvSpPr>
          <p:cNvPr id="33" name="Shape 29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Suivi Classes &amp; </a:t>
            </a:r>
            <a:r>
              <a:rPr lang="en-US" sz="3600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élèves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 err="1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Gestion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académique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simplify“ée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détaillée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3495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par classe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avec taux de presence en temps reel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Repartition par genre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effectifs detailles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Fiche individuelle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avec matricule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Assiduite sur 30 jours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presences, absences, retards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Taux global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 presence par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par classe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5842000"/>
            <a:ext cx="6858000" cy="1397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5969000"/>
            <a:ext cx="558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92%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 taux de presence moyen sur les classes suivies. Detection immediate des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élèves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 difficulte d'assiduite.</a:t>
            </a:r>
            <a:endParaRPr lang="en-US" sz="1800" dirty="0"/>
          </a:p>
        </p:txBody>
      </p:sp>
      <p:pic>
        <p:nvPicPr>
          <p:cNvPr id="10" name="Image 0" descr="https://kimi-img.moonshot.cn/pub/slides/okc/wxcrrvz2akhsa/mnt/agents/output/educonnect-pitch-etablissements/images/admin_classe.jpg"/>
          <p:cNvPicPr>
            <a:picLocks noChangeAspect="1"/>
          </p:cNvPicPr>
          <p:nvPr/>
        </p:nvPicPr>
        <p:blipFill>
          <a:blip r:embed="rId3"/>
          <a:srcRect t="14643" b="14643"/>
          <a:stretch/>
        </p:blipFill>
        <p:spPr>
          <a:xfrm>
            <a:off x="8128000" y="2222500"/>
            <a:ext cx="3556000" cy="5588000"/>
          </a:xfrm>
          <a:prstGeom prst="roundRect">
            <a:avLst>
              <a:gd name="adj" fmla="val 6000"/>
            </a:avLst>
          </a:prstGeom>
        </p:spPr>
      </p:pic>
      <p:pic>
        <p:nvPicPr>
          <p:cNvPr id="11" name="Image 1" descr="https://kimi-img.moonshot.cn/pub/slides/okc/wxcrrvz2akhsa/mnt/agents/output/educonnect-pitch-etablissements/images/admin_eleve.jpg"/>
          <p:cNvPicPr>
            <a:picLocks noChangeAspect="1"/>
          </p:cNvPicPr>
          <p:nvPr/>
        </p:nvPicPr>
        <p:blipFill>
          <a:blip r:embed="rId4"/>
          <a:srcRect t="14643" b="14643"/>
          <a:stretch/>
        </p:blipFill>
        <p:spPr>
          <a:xfrm>
            <a:off x="11938000" y="2222500"/>
            <a:ext cx="3556000" cy="5588000"/>
          </a:xfrm>
          <a:prstGeom prst="roundRect">
            <a:avLst>
              <a:gd name="adj" fmla="val 6000"/>
            </a:avLst>
          </a:prstGeom>
        </p:spPr>
      </p:pic>
      <p:sp>
        <p:nvSpPr>
          <p:cNvPr id="12" name="Text 8"/>
          <p:cNvSpPr/>
          <p:nvPr/>
        </p:nvSpPr>
        <p:spPr>
          <a:xfrm>
            <a:off x="8128000" y="7810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par classe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938000" y="7810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Fiche </a:t>
            </a:r>
            <a:r>
              <a:rPr lang="en-US" sz="14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</a:t>
            </a:r>
            <a:r>
              <a:rPr lang="en-US" sz="14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detaillee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Notes &amp; </a:t>
            </a:r>
            <a:r>
              <a:rPr lang="en-US" sz="3600" dirty="0" err="1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élèves</a:t>
            </a:r>
            <a:r>
              <a:rPr lang="en-US" sz="3600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à</a:t>
            </a:r>
            <a:r>
              <a:rPr lang="en-US" sz="3600" dirty="0" smtClean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Anticiper les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difficultés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pas les subir</a:t>
            </a:r>
            <a:endParaRPr lang="en-US" sz="2200" dirty="0"/>
          </a:p>
        </p:txBody>
      </p:sp>
      <p:pic>
        <p:nvPicPr>
          <p:cNvPr id="6" name="Image 0" descr="https://kimi-img.moonshot.cn/pub/slides/okc/wxcrrvz2akhsa/mnt/agents/output/educonnect-pitch-etablissements/images/admin_notes.jpg"/>
          <p:cNvPicPr>
            <a:picLocks noChangeAspect="1"/>
          </p:cNvPicPr>
          <p:nvPr/>
        </p:nvPicPr>
        <p:blipFill>
          <a:blip r:embed="rId3"/>
          <a:srcRect t="19559" b="19559"/>
          <a:stretch/>
        </p:blipFill>
        <p:spPr>
          <a:xfrm>
            <a:off x="762000" y="2349500"/>
            <a:ext cx="4318000" cy="5842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62000" y="8255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Moyennes par classe et tendances</a:t>
            </a:r>
            <a:endParaRPr lang="en-US" sz="1400" dirty="0"/>
          </a:p>
        </p:txBody>
      </p:sp>
      <p:pic>
        <p:nvPicPr>
          <p:cNvPr id="8" name="Image 1" descr="https://kimi-img.moonshot.cn/pub/slides/okc/wxcrrvz2akhsa/mnt/agents/output/educonnect-pitch-etablissements/images/admin_risque.jpg"/>
          <p:cNvPicPr>
            <a:picLocks noChangeAspect="1"/>
          </p:cNvPicPr>
          <p:nvPr/>
        </p:nvPicPr>
        <p:blipFill>
          <a:blip r:embed="rId4"/>
          <a:srcRect t="19559" b="19559"/>
          <a:stretch/>
        </p:blipFill>
        <p:spPr>
          <a:xfrm>
            <a:off x="5461000" y="2349500"/>
            <a:ext cx="4318000" cy="584200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Text 5"/>
          <p:cNvSpPr/>
          <p:nvPr/>
        </p:nvSpPr>
        <p:spPr>
          <a:xfrm>
            <a:off x="5461000" y="8255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Detection des </a:t>
            </a:r>
            <a:r>
              <a:rPr lang="en-US" sz="14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élèves</a:t>
            </a:r>
            <a:r>
              <a:rPr lang="en-US" sz="14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risque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287000" y="2349500"/>
            <a:ext cx="5207000" cy="387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Filtrage par </a:t>
            </a:r>
            <a:r>
              <a:rPr lang="en-US" sz="1800" b="1" dirty="0" err="1" smtClean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période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T1, T2, T3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Année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avec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sélection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 mois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Tendances annuelles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Graphique d'evolution mensuelle des moyennes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Alertes automatiques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Detection des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élèves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sous le seuil de risque (&lt; 8/20)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287000" y="6223000"/>
            <a:ext cx="5207000" cy="1651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668000" y="654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11239500" y="6413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Meilleures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matières</a:t>
            </a:r>
            <a:r>
              <a:rPr lang="en-US" sz="16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</a:t>
            </a:r>
            <a:r>
              <a:rPr lang="en-US" sz="16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matières</a:t>
            </a:r>
            <a:r>
              <a:rPr lang="en-US" sz="1600" b="1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difficultés</a:t>
            </a:r>
            <a:r>
              <a:rPr lang="en-US" sz="16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identifiées</a:t>
            </a:r>
            <a:r>
              <a:rPr lang="en-US" sz="16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automatiquement pour chaque classe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Enseignants &amp; Devoirs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Pilotage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pédagogique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3495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Annuaire enseignants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avec cours, appels, taux de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présence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Fiche </a:t>
            </a:r>
            <a:r>
              <a:rPr lang="en-US" sz="18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détaillée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contact, statistiques, actions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Gestion des devoirs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création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suivi, filtrage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par classe, </a:t>
            </a:r>
            <a:r>
              <a:rPr lang="en-US" sz="18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matière</a:t>
            </a:r>
            <a:r>
              <a:rPr lang="en-US" sz="1800" b="1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</a:t>
            </a:r>
            <a:endParaRPr lang="en-US" sz="1800" dirty="0"/>
          </a:p>
        </p:txBody>
      </p:sp>
      <p:pic>
        <p:nvPicPr>
          <p:cNvPr id="7" name="Image 0" descr="https://kimi-img.moonshot.cn/pub/slides/okc/wxcrrvz2akhsa/mnt/agents/output/educonnect-pitch-etablissements/images/admin_ens_liste.jpg"/>
          <p:cNvPicPr>
            <a:picLocks noChangeAspect="1"/>
          </p:cNvPicPr>
          <p:nvPr/>
        </p:nvPicPr>
        <p:blipFill>
          <a:blip r:embed="rId3"/>
          <a:srcRect t="30000" b="30000"/>
          <a:stretch/>
        </p:blipFill>
        <p:spPr>
          <a:xfrm>
            <a:off x="762000" y="5207000"/>
            <a:ext cx="3429000" cy="3048000"/>
          </a:xfrm>
          <a:prstGeom prst="roundRect">
            <a:avLst>
              <a:gd name="adj" fmla="val 6000"/>
            </a:avLst>
          </a:prstGeom>
        </p:spPr>
      </p:pic>
      <p:pic>
        <p:nvPicPr>
          <p:cNvPr id="8" name="Image 1" descr="https://kimi-img.moonshot.cn/pub/slides/okc/wxcrrvz2akhsa/mnt/agents/output/educonnect-pitch-etablissements/images/admin_ens_detail.jpg"/>
          <p:cNvPicPr>
            <a:picLocks noChangeAspect="1"/>
          </p:cNvPicPr>
          <p:nvPr/>
        </p:nvPicPr>
        <p:blipFill>
          <a:blip r:embed="rId4"/>
          <a:srcRect t="30000" b="30000"/>
          <a:stretch/>
        </p:blipFill>
        <p:spPr>
          <a:xfrm>
            <a:off x="4445000" y="5207000"/>
            <a:ext cx="3429000" cy="3048000"/>
          </a:xfrm>
          <a:prstGeom prst="roundRect">
            <a:avLst>
              <a:gd name="adj" fmla="val 6000"/>
            </a:avLst>
          </a:prstGeom>
        </p:spPr>
      </p:pic>
      <p:pic>
        <p:nvPicPr>
          <p:cNvPr id="9" name="Image 2" descr="https://kimi-img.moonshot.cn/pub/slides/okc/wxcrrvz2akhsa/mnt/agents/output/educonnect-pitch-etablissements/images/admin_devoirs.jpg"/>
          <p:cNvPicPr>
            <a:picLocks noChangeAspect="1"/>
          </p:cNvPicPr>
          <p:nvPr/>
        </p:nvPicPr>
        <p:blipFill>
          <a:blip r:embed="rId5"/>
          <a:srcRect t="32321" b="32321"/>
          <a:stretch/>
        </p:blipFill>
        <p:spPr>
          <a:xfrm>
            <a:off x="8128000" y="2222500"/>
            <a:ext cx="3556000" cy="2794000"/>
          </a:xfrm>
          <a:prstGeom prst="roundRect">
            <a:avLst>
              <a:gd name="adj" fmla="val 6000"/>
            </a:avLst>
          </a:prstGeom>
        </p:spPr>
      </p:pic>
      <p:pic>
        <p:nvPicPr>
          <p:cNvPr id="10" name="Image 3" descr="https://kimi-img.moonshot.cn/pub/slides/okc/wxcrrvz2akhsa/mnt/agents/output/educonnect-pitch-etablissements/images/admin_devoirs_liste.jpg"/>
          <p:cNvPicPr>
            <a:picLocks noChangeAspect="1"/>
          </p:cNvPicPr>
          <p:nvPr/>
        </p:nvPicPr>
        <p:blipFill>
          <a:blip r:embed="rId6"/>
          <a:srcRect t="32321" b="32321"/>
          <a:stretch/>
        </p:blipFill>
        <p:spPr>
          <a:xfrm>
            <a:off x="11938000" y="2222500"/>
            <a:ext cx="3556000" cy="2794000"/>
          </a:xfrm>
          <a:prstGeom prst="roundRect">
            <a:avLst>
              <a:gd name="adj" fmla="val 6000"/>
            </a:avLst>
          </a:prstGeom>
        </p:spPr>
      </p:pic>
      <p:sp>
        <p:nvSpPr>
          <p:cNvPr id="11" name="Text 5"/>
          <p:cNvSpPr/>
          <p:nvPr/>
        </p:nvSpPr>
        <p:spPr>
          <a:xfrm>
            <a:off x="8128000" y="5080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Creation de devoirs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1938000" y="5080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Liste des devoirs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8128000" y="5588000"/>
            <a:ext cx="7366000" cy="2667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509000" y="58420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5B21B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Tout le pilotage </a:t>
            </a:r>
            <a:r>
              <a:rPr lang="en-US" sz="1800" b="1" dirty="0" err="1" smtClean="0">
                <a:solidFill>
                  <a:srgbClr val="5B21B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pédagogique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centralisé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 un seul endroit.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Suivez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l'activité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 chaque enseignant,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gérez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devoirs et </a:t>
            </a:r>
            <a:r>
              <a:rPr lang="en-US" sz="18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contrôle</a:t>
            </a:r>
            <a:r>
              <a:rPr lang="en-US" sz="18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gardez un oeil sur la progression de chaque classe.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ENSEIGNANT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Espace Enseignant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Simplifier le </a:t>
            </a:r>
            <a:r>
              <a:rPr lang="en-US" sz="2200" dirty="0" err="1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quotidien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pédagogique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2755" y="36016"/>
                </a:moveTo>
                <a:cubicBezTo>
                  <a:pt x="143570" y="43557"/>
                  <a:pt x="146149" y="58440"/>
                  <a:pt x="138609" y="69155"/>
                </a:cubicBezTo>
                <a:lnTo>
                  <a:pt x="83046" y="148530"/>
                </a:lnTo>
                <a:cubicBezTo>
                  <a:pt x="78978" y="154285"/>
                  <a:pt x="72628" y="157956"/>
                  <a:pt x="65584" y="158552"/>
                </a:cubicBezTo>
                <a:cubicBezTo>
                  <a:pt x="58539" y="159147"/>
                  <a:pt x="51594" y="156766"/>
                  <a:pt x="46633" y="151805"/>
                </a:cubicBezTo>
                <a:lnTo>
                  <a:pt x="6945" y="112117"/>
                </a:lnTo>
                <a:cubicBezTo>
                  <a:pt x="-2282" y="102791"/>
                  <a:pt x="-2282" y="87709"/>
                  <a:pt x="6945" y="78383"/>
                </a:cubicBezTo>
                <a:cubicBezTo>
                  <a:pt x="16173" y="69056"/>
                  <a:pt x="31353" y="69155"/>
                  <a:pt x="40680" y="78383"/>
                </a:cubicBezTo>
                <a:lnTo>
                  <a:pt x="60325" y="98028"/>
                </a:lnTo>
                <a:lnTo>
                  <a:pt x="99616" y="41870"/>
                </a:lnTo>
                <a:cubicBezTo>
                  <a:pt x="107156" y="31055"/>
                  <a:pt x="122039" y="28476"/>
                  <a:pt x="132755" y="36016"/>
                </a:cubicBezTo>
                <a:close/>
                <a:moveTo>
                  <a:pt x="132755" y="194766"/>
                </a:moveTo>
                <a:cubicBezTo>
                  <a:pt x="143570" y="202307"/>
                  <a:pt x="146149" y="217190"/>
                  <a:pt x="138609" y="227905"/>
                </a:cubicBezTo>
                <a:lnTo>
                  <a:pt x="83046" y="307280"/>
                </a:lnTo>
                <a:cubicBezTo>
                  <a:pt x="78978" y="313035"/>
                  <a:pt x="72628" y="316706"/>
                  <a:pt x="65584" y="317302"/>
                </a:cubicBezTo>
                <a:cubicBezTo>
                  <a:pt x="58539" y="317897"/>
                  <a:pt x="51594" y="315516"/>
                  <a:pt x="46633" y="310555"/>
                </a:cubicBezTo>
                <a:lnTo>
                  <a:pt x="6945" y="270867"/>
                </a:lnTo>
                <a:cubicBezTo>
                  <a:pt x="-2381" y="261541"/>
                  <a:pt x="-2381" y="246459"/>
                  <a:pt x="6945" y="237232"/>
                </a:cubicBezTo>
                <a:cubicBezTo>
                  <a:pt x="16272" y="228005"/>
                  <a:pt x="31353" y="227905"/>
                  <a:pt x="40580" y="237232"/>
                </a:cubicBezTo>
                <a:lnTo>
                  <a:pt x="60226" y="256877"/>
                </a:lnTo>
                <a:lnTo>
                  <a:pt x="99516" y="200720"/>
                </a:lnTo>
                <a:cubicBezTo>
                  <a:pt x="107057" y="189905"/>
                  <a:pt x="121940" y="187325"/>
                  <a:pt x="132655" y="194866"/>
                </a:cubicBezTo>
                <a:close/>
                <a:moveTo>
                  <a:pt x="222250" y="95250"/>
                </a:moveTo>
                <a:cubicBezTo>
                  <a:pt x="222250" y="77688"/>
                  <a:pt x="236438" y="63500"/>
                  <a:pt x="254000" y="63500"/>
                </a:cubicBezTo>
                <a:lnTo>
                  <a:pt x="476250" y="63500"/>
                </a:lnTo>
                <a:cubicBezTo>
                  <a:pt x="493812" y="63500"/>
                  <a:pt x="508000" y="77688"/>
                  <a:pt x="508000" y="95250"/>
                </a:cubicBezTo>
                <a:cubicBezTo>
                  <a:pt x="508000" y="112812"/>
                  <a:pt x="493812" y="127000"/>
                  <a:pt x="476250" y="127000"/>
                </a:cubicBezTo>
                <a:lnTo>
                  <a:pt x="254000" y="127000"/>
                </a:lnTo>
                <a:cubicBezTo>
                  <a:pt x="236438" y="127000"/>
                  <a:pt x="222250" y="112812"/>
                  <a:pt x="222250" y="95250"/>
                </a:cubicBezTo>
                <a:close/>
                <a:moveTo>
                  <a:pt x="222250" y="254000"/>
                </a:moveTo>
                <a:cubicBezTo>
                  <a:pt x="222250" y="236438"/>
                  <a:pt x="236438" y="222250"/>
                  <a:pt x="254000" y="222250"/>
                </a:cubicBez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254000" y="285750"/>
                </a:lnTo>
                <a:cubicBezTo>
                  <a:pt x="236438" y="285750"/>
                  <a:pt x="222250" y="271562"/>
                  <a:pt x="222250" y="254000"/>
                </a:cubicBezTo>
                <a:close/>
                <a:moveTo>
                  <a:pt x="158750" y="412750"/>
                </a:moveTo>
                <a:cubicBezTo>
                  <a:pt x="158750" y="395188"/>
                  <a:pt x="172938" y="381000"/>
                  <a:pt x="190500" y="381000"/>
                </a:cubicBez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190500" y="444500"/>
                </a:lnTo>
                <a:cubicBezTo>
                  <a:pt x="172938" y="444500"/>
                  <a:pt x="158750" y="430312"/>
                  <a:pt x="158750" y="412750"/>
                </a:cubicBezTo>
                <a:close/>
                <a:moveTo>
                  <a:pt x="63500" y="373063"/>
                </a:moveTo>
                <a:cubicBezTo>
                  <a:pt x="85404" y="373063"/>
                  <a:pt x="103188" y="390846"/>
                  <a:pt x="103188" y="412750"/>
                </a:cubicBezTo>
                <a:cubicBezTo>
                  <a:pt x="103188" y="434654"/>
                  <a:pt x="85404" y="452437"/>
                  <a:pt x="63500" y="452437"/>
                </a:cubicBezTo>
                <a:cubicBezTo>
                  <a:pt x="41596" y="452437"/>
                  <a:pt x="23813" y="434654"/>
                  <a:pt x="23812" y="412750"/>
                </a:cubicBezTo>
                <a:cubicBezTo>
                  <a:pt x="23812" y="390846"/>
                  <a:pt x="41596" y="373063"/>
                  <a:pt x="63500" y="3730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2667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 rapides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3111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Faire l'appel, saisir une note, envoyer un commentaire en quelques secondes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5085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11250" y="4889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8397" y="238125"/>
                </a:moveTo>
                <a:lnTo>
                  <a:pt x="333772" y="238125"/>
                </a:lnTo>
                <a:cubicBezTo>
                  <a:pt x="316210" y="238125"/>
                  <a:pt x="302022" y="223937"/>
                  <a:pt x="302022" y="206375"/>
                </a:cubicBezTo>
                <a:lnTo>
                  <a:pt x="302022" y="31750"/>
                </a:lnTo>
                <a:cubicBezTo>
                  <a:pt x="302022" y="14188"/>
                  <a:pt x="316309" y="-198"/>
                  <a:pt x="333673" y="2084"/>
                </a:cubicBezTo>
                <a:cubicBezTo>
                  <a:pt x="439837" y="16173"/>
                  <a:pt x="523974" y="100310"/>
                  <a:pt x="538063" y="206474"/>
                </a:cubicBezTo>
                <a:cubicBezTo>
                  <a:pt x="540345" y="223838"/>
                  <a:pt x="525959" y="238125"/>
                  <a:pt x="508397" y="238125"/>
                </a:cubicBezTo>
                <a:close/>
                <a:moveTo>
                  <a:pt x="220861" y="36909"/>
                </a:moveTo>
                <a:cubicBezTo>
                  <a:pt x="238820" y="33139"/>
                  <a:pt x="254397" y="47823"/>
                  <a:pt x="254397" y="66179"/>
                </a:cubicBezTo>
                <a:lnTo>
                  <a:pt x="254397" y="261937"/>
                </a:lnTo>
                <a:cubicBezTo>
                  <a:pt x="254397" y="267494"/>
                  <a:pt x="256381" y="272852"/>
                  <a:pt x="259854" y="277118"/>
                </a:cubicBezTo>
                <a:lnTo>
                  <a:pt x="390922" y="435273"/>
                </a:lnTo>
                <a:cubicBezTo>
                  <a:pt x="402530" y="449263"/>
                  <a:pt x="400050" y="470396"/>
                  <a:pt x="384076" y="479028"/>
                </a:cubicBezTo>
                <a:cubicBezTo>
                  <a:pt x="350242" y="497483"/>
                  <a:pt x="311448" y="508000"/>
                  <a:pt x="270272" y="508000"/>
                </a:cubicBezTo>
                <a:cubicBezTo>
                  <a:pt x="138807" y="508000"/>
                  <a:pt x="32147" y="401340"/>
                  <a:pt x="32147" y="269875"/>
                </a:cubicBezTo>
                <a:cubicBezTo>
                  <a:pt x="32147" y="155277"/>
                  <a:pt x="113010" y="59630"/>
                  <a:pt x="220861" y="36909"/>
                </a:cubicBezTo>
                <a:close/>
                <a:moveTo>
                  <a:pt x="474067" y="285750"/>
                </a:moveTo>
                <a:lnTo>
                  <a:pt x="537567" y="285750"/>
                </a:lnTo>
                <a:cubicBezTo>
                  <a:pt x="555923" y="285750"/>
                  <a:pt x="570607" y="301327"/>
                  <a:pt x="566837" y="319286"/>
                </a:cubicBezTo>
                <a:cubicBezTo>
                  <a:pt x="556716" y="367308"/>
                  <a:pt x="532110" y="409972"/>
                  <a:pt x="497780" y="442516"/>
                </a:cubicBezTo>
                <a:cubicBezTo>
                  <a:pt x="485577" y="454124"/>
                  <a:pt x="466427" y="451644"/>
                  <a:pt x="455712" y="438646"/>
                </a:cubicBezTo>
                <a:lnTo>
                  <a:pt x="371971" y="337741"/>
                </a:lnTo>
                <a:cubicBezTo>
                  <a:pt x="354806" y="317004"/>
                  <a:pt x="369590" y="285750"/>
                  <a:pt x="396379" y="285750"/>
                </a:cubicBezTo>
                <a:lnTo>
                  <a:pt x="473968" y="28575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905000" y="4762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 de classe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52070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Présences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moyennes et devoirs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visualisés</a:t>
            </a:r>
            <a:r>
              <a:rPr lang="en-US" sz="16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 un </a:t>
            </a:r>
            <a:r>
              <a:rPr lang="en-US" sz="16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seul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écran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6604000"/>
            <a:ext cx="4699000" cy="158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11250" y="698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905000" y="685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B21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Messages parents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05000" y="7302500"/>
            <a:ext cx="317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Communication directe et </a:t>
            </a:r>
            <a:r>
              <a:rPr lang="en-US" sz="1600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sécurisée</a:t>
            </a:r>
            <a:r>
              <a:rPr lang="en-US" sz="16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avec les familles</a:t>
            </a:r>
            <a:endParaRPr lang="en-US" sz="1800" dirty="0"/>
          </a:p>
        </p:txBody>
      </p:sp>
      <p:pic>
        <p:nvPicPr>
          <p:cNvPr id="18" name="Image 0" descr="https://kimi-img.moonshot.cn/pub/slides/okc/wxcrrvz2akhsa/mnt/agents/output/educonnect-pitch-etablissements/images/ens_rapport.jpg"/>
          <p:cNvPicPr>
            <a:picLocks noChangeAspect="1"/>
          </p:cNvPicPr>
          <p:nvPr/>
        </p:nvPicPr>
        <p:blipFill>
          <a:blip r:embed="rId3"/>
          <a:srcRect t="21723" b="21723"/>
          <a:stretch/>
        </p:blipFill>
        <p:spPr>
          <a:xfrm>
            <a:off x="5969000" y="2222500"/>
            <a:ext cx="4699000" cy="5905500"/>
          </a:xfrm>
          <a:prstGeom prst="roundRect">
            <a:avLst>
              <a:gd name="adj" fmla="val 6000"/>
            </a:avLst>
          </a:prstGeom>
        </p:spPr>
      </p:pic>
      <p:pic>
        <p:nvPicPr>
          <p:cNvPr id="19" name="Image 1" descr="https://kimi-img.moonshot.cn/pub/slides/okc/wxcrrvz2akhsa/mnt/agents/output/educonnect-pitch-etablissements/images/ens_notes.jpg"/>
          <p:cNvPicPr>
            <a:picLocks noChangeAspect="1"/>
          </p:cNvPicPr>
          <p:nvPr/>
        </p:nvPicPr>
        <p:blipFill>
          <a:blip r:embed="rId4"/>
          <a:srcRect t="21723" b="21723"/>
          <a:stretch/>
        </p:blipFill>
        <p:spPr>
          <a:xfrm>
            <a:off x="10922000" y="2222500"/>
            <a:ext cx="4699000" cy="590550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Shape 16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ENSEIGNANT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directe Parents ↔ Ecole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messagerie qui </a:t>
            </a:r>
            <a:r>
              <a:rPr lang="en-US" sz="2200" dirty="0" err="1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rapproche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l‘école</a:t>
            </a:r>
            <a:r>
              <a:rPr lang="en-US" sz="2200" dirty="0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les familles</a:t>
            </a:r>
            <a:endParaRPr lang="en-US" sz="2200" dirty="0"/>
          </a:p>
        </p:txBody>
      </p:sp>
      <p:pic>
        <p:nvPicPr>
          <p:cNvPr id="6" name="Image 0" descr="https://kimi-img.moonshot.cn/pub/slides/okc/wxcrrvz2akhsa/mnt/agents/output/educonnect-pitch-etablissements/images/ens_messages.jpg"/>
          <p:cNvPicPr>
            <a:picLocks noChangeAspect="1"/>
          </p:cNvPicPr>
          <p:nvPr/>
        </p:nvPicPr>
        <p:blipFill>
          <a:blip r:embed="rId3"/>
          <a:srcRect t="22027" b="22027"/>
          <a:stretch/>
        </p:blipFill>
        <p:spPr>
          <a:xfrm>
            <a:off x="762000" y="2349500"/>
            <a:ext cx="4699000" cy="5842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62000" y="82550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Messages des parents</a:t>
            </a:r>
            <a:endParaRPr lang="en-US" sz="1400" dirty="0"/>
          </a:p>
        </p:txBody>
      </p:sp>
      <p:pic>
        <p:nvPicPr>
          <p:cNvPr id="8" name="Image 1" descr="https://kimi-img.moonshot.cn/pub/slides/okc/wxcrrvz2akhsa/mnt/agents/output/educonnect-pitch-etablissements/images/ens_message_lecture.jpg"/>
          <p:cNvPicPr>
            <a:picLocks noChangeAspect="1"/>
          </p:cNvPicPr>
          <p:nvPr/>
        </p:nvPicPr>
        <p:blipFill>
          <a:blip r:embed="rId4"/>
          <a:srcRect t="22027" b="22027"/>
          <a:stretch/>
        </p:blipFill>
        <p:spPr>
          <a:xfrm>
            <a:off x="5778500" y="2349500"/>
            <a:ext cx="4699000" cy="584200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Text 5"/>
          <p:cNvSpPr/>
          <p:nvPr/>
        </p:nvSpPr>
        <p:spPr>
          <a:xfrm>
            <a:off x="5778500" y="82550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et reponse</a:t>
            </a:r>
            <a:endParaRPr lang="en-US" sz="1400" dirty="0"/>
          </a:p>
        </p:txBody>
      </p:sp>
      <p:pic>
        <p:nvPicPr>
          <p:cNvPr id="10" name="Image 2" descr="https://kimi-img.moonshot.cn/pub/slides/okc/wxcrrvz2akhsa/mnt/agents/output/educonnect-pitch-etablissements/images/ens_commentaire.jpg"/>
          <p:cNvPicPr>
            <a:picLocks noChangeAspect="1"/>
          </p:cNvPicPr>
          <p:nvPr/>
        </p:nvPicPr>
        <p:blipFill>
          <a:blip r:embed="rId5"/>
          <a:srcRect t="22027" b="22027"/>
          <a:stretch/>
        </p:blipFill>
        <p:spPr>
          <a:xfrm>
            <a:off x="10795000" y="2349500"/>
            <a:ext cx="4699000" cy="5842000"/>
          </a:xfrm>
          <a:prstGeom prst="roundRect">
            <a:avLst>
              <a:gd name="adj" fmla="val 600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10795000" y="82550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Envoi de commentaires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62000" y="8636000"/>
            <a:ext cx="14732000" cy="508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50000">
                <a:srgbClr val="7C3AED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13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L'experience Parent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en temps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réel</a:t>
            </a: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action </a:t>
            </a:r>
            <a:r>
              <a:rPr lang="en-US" sz="22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immédiate</a:t>
            </a:r>
            <a:endParaRPr lang="en-US" sz="2200" dirty="0"/>
          </a:p>
        </p:txBody>
      </p:sp>
      <p:pic>
        <p:nvPicPr>
          <p:cNvPr id="6" name="Image 0" descr="https://kimi-img.moonshot.cn/pub/slides/okc/wxcrrvz2akhsa/mnt/agents/output/educonnect-pitch-etablissements/images/parent_alerte_recue.jpg"/>
          <p:cNvPicPr>
            <a:picLocks noChangeAspect="1"/>
          </p:cNvPicPr>
          <p:nvPr/>
        </p:nvPicPr>
        <p:blipFill>
          <a:blip r:embed="rId3"/>
          <a:srcRect t="20268" b="20268"/>
          <a:stretch/>
        </p:blipFill>
        <p:spPr>
          <a:xfrm>
            <a:off x="762000" y="2349500"/>
            <a:ext cx="3556000" cy="4699000"/>
          </a:xfrm>
          <a:prstGeom prst="roundRect">
            <a:avLst>
              <a:gd name="adj" fmla="val 6000"/>
            </a:avLst>
          </a:prstGeom>
        </p:spPr>
      </p:pic>
      <p:pic>
        <p:nvPicPr>
          <p:cNvPr id="7" name="Image 1" descr="https://kimi-img.moonshot.cn/pub/slides/okc/wxcrrvz2akhsa/mnt/agents/output/educonnect-pitch-etablissements/images/parent_assiduite.jpg"/>
          <p:cNvPicPr>
            <a:picLocks noChangeAspect="1"/>
          </p:cNvPicPr>
          <p:nvPr/>
        </p:nvPicPr>
        <p:blipFill>
          <a:blip r:embed="rId4"/>
          <a:srcRect t="20268" b="20268"/>
          <a:stretch/>
        </p:blipFill>
        <p:spPr>
          <a:xfrm>
            <a:off x="4572000" y="2349500"/>
            <a:ext cx="3556000" cy="4699000"/>
          </a:xfrm>
          <a:prstGeom prst="roundRect">
            <a:avLst>
              <a:gd name="adj" fmla="val 6000"/>
            </a:avLst>
          </a:prstGeom>
        </p:spPr>
      </p:pic>
      <p:pic>
        <p:nvPicPr>
          <p:cNvPr id="8" name="Image 2" descr="https://kimi-img.moonshot.cn/pub/slides/okc/wxcrrvz2akhsa/mnt/agents/output/educonnect-pitch-etablissements/images/parent_notes.jpg"/>
          <p:cNvPicPr>
            <a:picLocks noChangeAspect="1"/>
          </p:cNvPicPr>
          <p:nvPr/>
        </p:nvPicPr>
        <p:blipFill>
          <a:blip r:embed="rId5"/>
          <a:srcRect t="20268" b="20268"/>
          <a:stretch/>
        </p:blipFill>
        <p:spPr>
          <a:xfrm>
            <a:off x="8382000" y="2349500"/>
            <a:ext cx="3556000" cy="4699000"/>
          </a:xfrm>
          <a:prstGeom prst="roundRect">
            <a:avLst>
              <a:gd name="adj" fmla="val 6000"/>
            </a:avLst>
          </a:prstGeom>
        </p:spPr>
      </p:pic>
      <p:pic>
        <p:nvPicPr>
          <p:cNvPr id="9" name="Image 3" descr="https://kimi-img.moonshot.cn/pub/slides/okc/wxcrrvz2akhsa/mnt/agents/output/educonnect-pitch-etablissements/images/parent_edt.jpg"/>
          <p:cNvPicPr>
            <a:picLocks noChangeAspect="1"/>
          </p:cNvPicPr>
          <p:nvPr/>
        </p:nvPicPr>
        <p:blipFill>
          <a:blip r:embed="rId6"/>
          <a:srcRect t="17981" b="17981"/>
          <a:stretch/>
        </p:blipFill>
        <p:spPr>
          <a:xfrm>
            <a:off x="12192000" y="2349500"/>
            <a:ext cx="3302000" cy="469900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Text 4"/>
          <p:cNvSpPr/>
          <p:nvPr/>
        </p:nvSpPr>
        <p:spPr>
          <a:xfrm>
            <a:off x="762000" y="7112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Alertes en temps </a:t>
            </a:r>
            <a:r>
              <a:rPr lang="en-US" sz="14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réel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572000" y="7112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Suivi des </a:t>
            </a:r>
            <a:r>
              <a:rPr lang="en-US" sz="1400" dirty="0" err="1" smtClean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présences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382000" y="7112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Notes et moyennes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2192000" y="7112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Emploi du temps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62000" y="762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59E0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Alertes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instantanées</a:t>
            </a:r>
            <a:r>
              <a:rPr lang="en-US" sz="1600" dirty="0" smtClean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sur absences, retards et nouvelles notes  •  </a:t>
            </a:r>
            <a:r>
              <a:rPr lang="en-US" sz="1600" dirty="0">
                <a:solidFill>
                  <a:srgbClr val="7C3AE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💬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Messagerie directe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avec enseignants et administration  •  </a:t>
            </a:r>
            <a:r>
              <a:rPr lang="en-US" sz="16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📈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Suivi complet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 l'enfant en temps reel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762000" y="8636000"/>
            <a:ext cx="1524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12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0">
              <a:srgbClr val="5B21B6"/>
            </a:gs>
            <a:gs pos="50000">
              <a:srgbClr val="7C3AED"/>
            </a:gs>
            <a:gs pos="100000">
              <a:srgbClr val="A78BF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0000"/>
            <a:ext cx="2794000" cy="2794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351000" y="254000"/>
            <a:ext cx="1524000" cy="1524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88000" y="1270000"/>
            <a:ext cx="5080000" cy="508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  <a:effectLst>
            <a:outerShdw blurRad="152400" dist="50800" dir="5400000" algn="bl" rotWithShape="0">
              <a:srgbClr val="000000">
                <a:alpha val="1254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588000" y="127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kern="0" spc="1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SANS FRAIS POUR LES </a:t>
            </a:r>
            <a:r>
              <a:rPr lang="en-US" sz="1500" kern="0" spc="150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établissementS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78000" y="2159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Rejoignez la revolution EduConnect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12000" y="3302000"/>
            <a:ext cx="203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2540000" y="3683000"/>
            <a:ext cx="1117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94000" y="3810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FCFA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94000" y="4381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Pour les </a:t>
            </a:r>
            <a:r>
              <a:rPr lang="en-US" sz="1400" dirty="0" err="1" smtClean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établissements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3937000"/>
            <a:ext cx="12700" cy="7620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3810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4381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 err="1" smtClean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33000" y="3937000"/>
            <a:ext cx="12700" cy="7620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0" y="3810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0" y="4381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Accompagnement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18000" y="5334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Contactez-nous des aujourd'hui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18000" y="596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+221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r>
              <a:rPr lang="en-US" sz="28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7 477 92 98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18000" y="6540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+221  XX XXX XX </a:t>
            </a:r>
            <a:r>
              <a:rPr lang="en-US" sz="2800" b="1" dirty="0" err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88000" y="7366000"/>
            <a:ext cx="5080000" cy="711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  <a:effectLst>
            <a:outerShdw blurRad="203200" dist="101600" dir="5400000" algn="bl" rotWithShape="0">
              <a:srgbClr val="000000">
                <a:alpha val="1882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88000" y="7366000"/>
            <a:ext cx="508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Demandez une demonstration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000000">
              <a:alpha val="8235"/>
            </a:srgbClr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742</Words>
  <Application>Microsoft Office PowerPoint</Application>
  <PresentationFormat>Personnalisé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QuattrocentoSans</vt:lpstr>
      <vt:lpstr>Arial</vt:lpstr>
      <vt:lpstr>Quattrocento Sans</vt:lpstr>
      <vt:lpstr>Liter</vt:lpstr>
      <vt:lpstr>Calibri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EduConnect - Pitch Etablissements</dc:title>
  <dc:subject>EduConnect - Pitch Etablissements</dc:subject>
  <dc:creator>Kimi</dc:creator>
  <cp:lastModifiedBy>HP</cp:lastModifiedBy>
  <cp:revision>16</cp:revision>
  <dcterms:created xsi:type="dcterms:W3CDTF">2026-06-05T17:43:51Z</dcterms:created>
  <dcterms:modified xsi:type="dcterms:W3CDTF">2026-06-06T09:55:21Z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{"Label":"EduConnect - Pitch Etablissements","ContentProducer":"001191110108MACG2KBH8F10000","ProduceID":"19e98dfc-a0f2-89bc-8000-00001bd758df","ReservedCode1":"","ContentPropagator":"001191110108MACG2KBH8F20000","PropagateID":"19e98dfc-a0f2-89bc-8000-000</vt:lpwstr>
  </property>
</Properties>
</file>